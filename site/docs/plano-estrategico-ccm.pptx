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53120"/>
            <a:ext cx="8890000" cy="45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13037"/>
            <a:ext cx="10566400" cy="4132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53120"/>
            <a:ext cx="8890000" cy="45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13037"/>
            <a:ext cx="10566400" cy="4132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png"/><Relationship Id="rId13" Type="http://schemas.openxmlformats.org/officeDocument/2006/relationships/image" Target="../media/image-23-13.png"/><Relationship Id="rId14" Type="http://schemas.openxmlformats.org/officeDocument/2006/relationships/image" Target="../media/image-23-14.png"/><Relationship Id="rId15" Type="http://schemas.openxmlformats.org/officeDocument/2006/relationships/image" Target="../media/image-23-15.png"/><Relationship Id="rId16" Type="http://schemas.openxmlformats.org/officeDocument/2006/relationships/image" Target="../media/image-23-16.png"/><Relationship Id="rId17" Type="http://schemas.openxmlformats.org/officeDocument/2006/relationships/image" Target="../media/image-23-17.png"/><Relationship Id="rId18" Type="http://schemas.openxmlformats.org/officeDocument/2006/relationships/image" Target="../media/image-23-18.png"/><Relationship Id="rId19" Type="http://schemas.openxmlformats.org/officeDocument/2006/relationships/image" Target="../media/image-23-19.png"/><Relationship Id="rId20" Type="http://schemas.openxmlformats.org/officeDocument/2006/relationships/image" Target="../media/image-23-20.png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image" Target="../media/image-24-10.png"/><Relationship Id="rId11" Type="http://schemas.openxmlformats.org/officeDocument/2006/relationships/image" Target="../media/image-24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image" Target="../media/image-29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image" Target="../media/image-32-8.png"/><Relationship Id="rId9" Type="http://schemas.openxmlformats.org/officeDocument/2006/relationships/image" Target="../media/image-32-9.png"/><Relationship Id="rId10" Type="http://schemas.openxmlformats.org/officeDocument/2006/relationships/image" Target="../media/image-32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ARTESP — Agência de Transporte do Estado de São Paulo">    </p:cNvPr>
          <p:cNvPicPr>
            <a:picLocks noChangeAspect="1"/>
          </p:cNvPicPr>
          <p:nvPr/>
        </p:nvPicPr>
        <p:blipFill>
          <a:blip r:embed="rId2"/>
          <a:srcRect l="0" r="0" t="-77" b="-77"/>
          <a:stretch/>
        </p:blipFill>
        <p:spPr>
          <a:xfrm>
            <a:off x="812800" y="812800"/>
            <a:ext cx="2527300" cy="698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2504678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CENTRO DE CONTROLE MULTIMODAL · PLANO ESTRATÉGICO</a:t>
            </a:r>
            <a:endParaRPr lang="en-US" sz="1200" dirty="0"/>
          </a:p>
        </p:txBody>
      </p:sp>
      <p:sp>
        <p:nvSpPr>
          <p:cNvPr id="5" name="Text 1"/>
          <p:cNvSpPr/>
          <p:nvPr>
            <p:ph type="title"/>
          </p:nvPr>
        </p:nvSpPr>
        <p:spPr>
          <a:xfrm>
            <a:off x="812800" y="2946598"/>
            <a:ext cx="8502650" cy="151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foi feito.</a:t>
            </a:r>
            <a:endParaRPr lang="en-US" sz="5600" dirty="0"/>
          </a:p>
          <a:p>
            <a:pPr algn="l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se propõe.</a:t>
            </a:r>
            <a:endParaRPr lang="en-US" sz="5600" dirty="0"/>
          </a:p>
        </p:txBody>
      </p:sp>
      <p:sp>
        <p:nvSpPr>
          <p:cNvPr id="6" name="Shape 2"/>
          <p:cNvSpPr/>
          <p:nvPr/>
        </p:nvSpPr>
        <p:spPr>
          <a:xfrm>
            <a:off x="812800" y="4668639"/>
            <a:ext cx="1270000" cy="3810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</p:sp>
      <p:sp>
        <p:nvSpPr>
          <p:cNvPr id="7" name="Text 3"/>
          <p:cNvSpPr/>
          <p:nvPr/>
        </p:nvSpPr>
        <p:spPr>
          <a:xfrm>
            <a:off x="812800" y="4935339"/>
            <a:ext cx="7848600" cy="932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Cinco anos de modernização da coleta, da consolidação e da publicação de dados — e a proposta para o CCM responder pelo ciclo do dado da agência.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Versão de trabalho · outubro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ESP">    </p:cNvPr>
          <p:cNvPicPr>
            <a:picLocks noChangeAspect="1"/>
          </p:cNvPicPr>
          <p:nvPr/>
        </p:nvPicPr>
        <p:blipFill>
          <a:blip r:embed="rId1"/>
          <a:srcRect l="0" r="0" t="-140" b="-140"/>
          <a:stretch/>
        </p:blipFill>
        <p:spPr>
          <a:xfrm>
            <a:off x="10369550" y="812800"/>
            <a:ext cx="1009650" cy="279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SÍNTESE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178520"/>
            <a:ext cx="9156700" cy="480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plano em uma página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15975" y="1789212"/>
            <a:ext cx="5175250" cy="3234432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47750" y="1995587"/>
            <a:ext cx="2967633" cy="289520"/>
          </a:xfrm>
          <a:prstGeom prst="roundRect">
            <a:avLst>
              <a:gd name="adj" fmla="val 13160"/>
            </a:avLst>
          </a:prstGeom>
          <a:solidFill>
            <a:srgbClr val="14141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FOI FEITO · 2021 → 2026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52906" y="2386707"/>
            <a:ext cx="4740275" cy="2455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8844" indent="-14884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Modernização do CCI desde 2021: APIs do MITS e do MIP, automação, procedimentos, capacitação da equipe e primeiros painéis.</a:t>
            </a:r>
            <a:endParaRPr lang="en-US" sz="1200" dirty="0"/>
          </a:p>
          <a:p>
            <a:pPr algn="l" marL="148844" indent="-14884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Oito aplicações. Em produção: Portal CCM, Codifica, Dados Abertos, Passagens OCR e Object Storage. Em homologação: GeoEntregas, OpenMetadata e CCM Ocorrências.</a:t>
            </a:r>
            <a:endParaRPr lang="en-US" sz="1200" dirty="0"/>
          </a:p>
          <a:p>
            <a:pPr algn="l" marL="148844" indent="-14884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de Coleta e Disponibilização de Dados, elaborado e apresentado em janeiro de 2026.</a:t>
            </a:r>
            <a:endParaRPr lang="en-US" sz="1200" dirty="0"/>
          </a:p>
          <a:p>
            <a:pPr algn="l" marL="148844" indent="-14884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Três termos de referência: apoio operacional (contratado), reformulação do MITS e reforma do CCM.</a:t>
            </a:r>
            <a:endParaRPr lang="en-US" sz="1200" dirty="0"/>
          </a:p>
          <a:p>
            <a:pPr algn="l" marL="148844" indent="-14884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Prova de conceito executável da camada de dados.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00775" y="1789212"/>
            <a:ext cx="5175250" cy="3234432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6350">
            <a:solidFill>
              <a:srgbClr val="D32F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32550" y="1995587"/>
            <a:ext cx="1861443" cy="289520"/>
          </a:xfrm>
          <a:prstGeom prst="roundRect">
            <a:avLst>
              <a:gd name="adj" fmla="val 13160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SE PROPÕE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37706" y="2386707"/>
            <a:ext cx="4740275" cy="2235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8844" indent="-14884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Restabelecer o CCM como gerência responsável pela coleta, consolidação, verificação e publicação dos dados da agência.</a:t>
            </a:r>
            <a:endParaRPr lang="en-US" sz="1200" dirty="0"/>
          </a:p>
          <a:p>
            <a:pPr algn="l" marL="148844" indent="-14884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 Multimodal: camada de dados própria, mediante avaliação interna de viabilidade, e software multimodal contratado para operar sobre ela.</a:t>
            </a:r>
            <a:endParaRPr lang="en-US" sz="1200" dirty="0"/>
          </a:p>
          <a:p>
            <a:pPr algn="l" marL="148844" indent="-14884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Consultoria especializada para avaliar e comparar modelos de verificação independente dos dados na origem.</a:t>
            </a:r>
            <a:endParaRPr lang="en-US" sz="1200" dirty="0"/>
          </a:p>
          <a:p>
            <a:pPr algn="l" marL="148844" indent="-14884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Apoio à SUTID na instituição do escritório de projetos, com plataforma de gestão em software livre.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2800" y="5179219"/>
            <a:ext cx="1046480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tudo o que foi feito e em tudo o que se propõe, </a:t>
            </a:r>
            <a:r>
              <a:rPr lang="en-US" sz="1400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preferência por software livre</a:t>
            </a:r>
            <a:r>
              <a:rPr lang="en-US" sz="14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as oito aplicações foram implantadas sem custo de licença para a agência.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Situação das entregas em 02/10/2026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6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ARTESP">    </p:cNvPr>
          <p:cNvPicPr>
            <a:picLocks noChangeAspect="1"/>
          </p:cNvPicPr>
          <p:nvPr/>
        </p:nvPicPr>
        <p:blipFill>
          <a:blip r:embed="rId2"/>
          <a:srcRect l="-17" r="-17" t="0" b="0"/>
          <a:stretch/>
        </p:blipFill>
        <p:spPr>
          <a:xfrm>
            <a:off x="812800" y="812800"/>
            <a:ext cx="1841500" cy="50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2255044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FFD6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PARTE I</a:t>
            </a:r>
            <a:endParaRPr lang="en-US" sz="1400" dirty="0"/>
          </a:p>
        </p:txBody>
      </p:sp>
      <p:sp>
        <p:nvSpPr>
          <p:cNvPr id="5" name="Text 1"/>
          <p:cNvSpPr/>
          <p:nvPr>
            <p:ph type="title"/>
          </p:nvPr>
        </p:nvSpPr>
        <p:spPr>
          <a:xfrm>
            <a:off x="812800" y="2707084"/>
            <a:ext cx="9156700" cy="854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528"/>
              </a:lnSpc>
              <a:buNone/>
            </a:pPr>
            <a:r>
              <a:rPr lang="en-US" sz="64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foi feito</a:t>
            </a:r>
            <a:endParaRPr lang="en-US" sz="6400" dirty="0"/>
          </a:p>
        </p:txBody>
      </p:sp>
      <p:sp>
        <p:nvSpPr>
          <p:cNvPr id="6" name="Text 2"/>
          <p:cNvSpPr/>
          <p:nvPr/>
        </p:nvSpPr>
        <p:spPr>
          <a:xfrm>
            <a:off x="812800" y="3739257"/>
            <a:ext cx="7848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E3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2021 → 2026: automação, aplicações, governança e termos de referência — construídos internamente, sobre software livre.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ESP">    </p:cNvPr>
          <p:cNvPicPr>
            <a:picLocks noChangeAspect="1"/>
          </p:cNvPicPr>
          <p:nvPr/>
        </p:nvPicPr>
        <p:blipFill>
          <a:blip r:embed="rId1"/>
          <a:srcRect l="0" r="0" t="-140" b="-140"/>
          <a:stretch/>
        </p:blipFill>
        <p:spPr>
          <a:xfrm>
            <a:off x="10369550" y="812800"/>
            <a:ext cx="1009650" cy="279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2021 · O PONTO DE PARTIDA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203920"/>
            <a:ext cx="9156700" cy="480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CCI encontrado em 2021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15975" y="1840012"/>
            <a:ext cx="2520950" cy="1649611"/>
          </a:xfrm>
          <a:prstGeom prst="roundRect">
            <a:avLst>
              <a:gd name="adj" fmla="val 4427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96950" y="2020987"/>
            <a:ext cx="355600" cy="38100"/>
          </a:xfrm>
          <a:prstGeom prst="roundRect">
            <a:avLst>
              <a:gd name="adj" fmla="val 50000"/>
            </a:avLst>
          </a:prstGeom>
          <a:solidFill>
            <a:srgbClr val="9A9A9A"/>
          </a:solidFill>
          <a:ln/>
        </p:spPr>
      </p:sp>
      <p:sp>
        <p:nvSpPr>
          <p:cNvPr id="7" name="Text 4"/>
          <p:cNvSpPr/>
          <p:nvPr/>
        </p:nvSpPr>
        <p:spPr>
          <a:xfrm>
            <a:off x="996950" y="2135287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Consolidação manual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6950" y="2424807"/>
            <a:ext cx="2223770" cy="909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Tratamento predominantemente manual, com consolidação dos dados em planilhas.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95675" y="1840012"/>
            <a:ext cx="2520950" cy="1649611"/>
          </a:xfrm>
          <a:prstGeom prst="roundRect">
            <a:avLst>
              <a:gd name="adj" fmla="val 4427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76650" y="2020987"/>
            <a:ext cx="355600" cy="38100"/>
          </a:xfrm>
          <a:prstGeom prst="roundRect">
            <a:avLst>
              <a:gd name="adj" fmla="val 50000"/>
            </a:avLst>
          </a:prstGeom>
          <a:solidFill>
            <a:srgbClr val="9A9A9A"/>
          </a:solidFill>
          <a:ln/>
        </p:spPr>
      </p:sp>
      <p:sp>
        <p:nvSpPr>
          <p:cNvPr id="11" name="Text 8"/>
          <p:cNvSpPr/>
          <p:nvPr/>
        </p:nvSpPr>
        <p:spPr>
          <a:xfrm>
            <a:off x="3676650" y="2135287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MITS sem API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676650" y="2424807"/>
            <a:ext cx="2223770" cy="909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dados ingressavam pelo Módulo ITS, do IPT, sem interface de extração disponível.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5375" y="1840012"/>
            <a:ext cx="2520950" cy="1649611"/>
          </a:xfrm>
          <a:prstGeom prst="roundRect">
            <a:avLst>
              <a:gd name="adj" fmla="val 4427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56350" y="2020987"/>
            <a:ext cx="355600" cy="38100"/>
          </a:xfrm>
          <a:prstGeom prst="roundRect">
            <a:avLst>
              <a:gd name="adj" fmla="val 50000"/>
            </a:avLst>
          </a:prstGeom>
          <a:solidFill>
            <a:srgbClr val="9A9A9A"/>
          </a:solidFill>
          <a:ln/>
        </p:spPr>
      </p:sp>
      <p:sp>
        <p:nvSpPr>
          <p:cNvPr id="15" name="Text 12"/>
          <p:cNvSpPr/>
          <p:nvPr/>
        </p:nvSpPr>
        <p:spPr>
          <a:xfrm>
            <a:off x="6356350" y="2135287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Contrato encerrado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56350" y="2424807"/>
            <a:ext cx="2223770" cy="909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contrato com o IPT encontrava-se encerrado, sem via para evolução da plataforma.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55075" y="1840012"/>
            <a:ext cx="2520950" cy="1649611"/>
          </a:xfrm>
          <a:prstGeom prst="roundRect">
            <a:avLst>
              <a:gd name="adj" fmla="val 4427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36050" y="2020987"/>
            <a:ext cx="355600" cy="38100"/>
          </a:xfrm>
          <a:prstGeom prst="roundRect">
            <a:avLst>
              <a:gd name="adj" fmla="val 50000"/>
            </a:avLst>
          </a:prstGeom>
          <a:solidFill>
            <a:srgbClr val="9A9A9A"/>
          </a:solidFill>
          <a:ln/>
        </p:spPr>
      </p:sp>
      <p:sp>
        <p:nvSpPr>
          <p:cNvPr id="19" name="Text 16"/>
          <p:cNvSpPr/>
          <p:nvPr/>
        </p:nvSpPr>
        <p:spPr>
          <a:xfrm>
            <a:off x="9036050" y="2135287"/>
            <a:ext cx="222377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Equipe sem capacitação técnica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036050" y="2638127"/>
            <a:ext cx="2223770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Ausência de qualificação em coleta, tratamento e automação de dados.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12800" y="3670598"/>
            <a:ext cx="10566400" cy="1203920"/>
          </a:xfrm>
          <a:prstGeom prst="roundRect">
            <a:avLst>
              <a:gd name="adj" fmla="val 6329"/>
            </a:avLst>
          </a:prstGeom>
          <a:solidFill>
            <a:srgbClr val="141414"/>
          </a:solidFill>
          <a:ln/>
        </p:spPr>
      </p:sp>
      <p:sp>
        <p:nvSpPr>
          <p:cNvPr id="22" name="Text 19"/>
          <p:cNvSpPr/>
          <p:nvPr/>
        </p:nvSpPr>
        <p:spPr>
          <a:xfrm>
            <a:off x="1066800" y="3873798"/>
            <a:ext cx="103601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8A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 ASSUMIDO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66800" y="4137918"/>
            <a:ext cx="1036015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Organizar e modernizar a coleta, a consolidação e a publicação dos dados do centro, capacitando a equipe em práticas modernas.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centro denominava-se CCI — Centro de Controle de Informações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ESP">    </p:cNvPr>
          <p:cNvPicPr>
            <a:picLocks noChangeAspect="1"/>
          </p:cNvPicPr>
          <p:nvPr/>
        </p:nvPicPr>
        <p:blipFill>
          <a:blip r:embed="rId1"/>
          <a:srcRect l="0" r="0" t="-140" b="-140"/>
          <a:stretch/>
        </p:blipFill>
        <p:spPr>
          <a:xfrm>
            <a:off x="10369550" y="812800"/>
            <a:ext cx="1009650" cy="279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24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b="1" spc="150" kern="0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2021 · A MODERNIZAÇÃO</a:t>
            </a:r>
            <a:endParaRPr lang="en-US" sz="1121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138932"/>
            <a:ext cx="10668000" cy="874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38"/>
              </a:lnSpc>
              <a:buNone/>
            </a:pPr>
            <a:r>
              <a:rPr lang="en-US" sz="3070" b="1" i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processo manual ao fluxo automatizado</a:t>
            </a:r>
            <a:endParaRPr lang="en-US" sz="3070" dirty="0"/>
          </a:p>
        </p:txBody>
      </p:sp>
      <p:sp>
        <p:nvSpPr>
          <p:cNvPr id="5" name="Shape 2"/>
          <p:cNvSpPr/>
          <p:nvPr/>
        </p:nvSpPr>
        <p:spPr>
          <a:xfrm>
            <a:off x="812800" y="2115443"/>
            <a:ext cx="2403673" cy="284063"/>
          </a:xfrm>
          <a:prstGeom prst="roundRect">
            <a:avLst>
              <a:gd name="adj" fmla="val 13413"/>
            </a:avLst>
          </a:prstGeom>
          <a:solidFill>
            <a:srgbClr val="E3E3E3"/>
          </a:solidFill>
          <a:ln/>
        </p:spPr>
      </p:sp>
      <p:sp>
        <p:nvSpPr>
          <p:cNvPr id="6" name="Text 3"/>
          <p:cNvSpPr/>
          <p:nvPr/>
        </p:nvSpPr>
        <p:spPr>
          <a:xfrm>
            <a:off x="901700" y="2153543"/>
            <a:ext cx="2292650" cy="233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100" kern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SITUAÇÃO ENCONTRADA</a:t>
            </a:r>
            <a:endParaRPr lang="en-US" sz="1196" dirty="0"/>
          </a:p>
        </p:txBody>
      </p:sp>
      <p:sp>
        <p:nvSpPr>
          <p:cNvPr id="7" name="Shape 4"/>
          <p:cNvSpPr/>
          <p:nvPr/>
        </p:nvSpPr>
        <p:spPr>
          <a:xfrm>
            <a:off x="815975" y="2466181"/>
            <a:ext cx="5124450" cy="417314"/>
          </a:xfrm>
          <a:prstGeom prst="roundRect">
            <a:avLst>
              <a:gd name="adj" fmla="val 14456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9351" y="2570956"/>
            <a:ext cx="4957699" cy="233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Ingresso de dados pelo MITS, sem API</a:t>
            </a:r>
            <a:endParaRPr lang="en-US" sz="1196" dirty="0"/>
          </a:p>
        </p:txBody>
      </p:sp>
      <p:pic>
        <p:nvPicPr>
          <p:cNvPr id="9" name="Image 1" descr="arrow-down">    </p:cNvPr>
          <p:cNvPicPr>
            <a:picLocks noChangeAspect="1"/>
          </p:cNvPicPr>
          <p:nvPr/>
        </p:nvPicPr>
        <p:blipFill>
          <a:blip r:embed="rId2"/>
          <a:srcRect l="0" r="0" t="-1042" b="-1042"/>
          <a:stretch/>
        </p:blipFill>
        <p:spPr>
          <a:xfrm>
            <a:off x="3276600" y="2950170"/>
            <a:ext cx="203200" cy="13612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5975" y="3152973"/>
            <a:ext cx="5124450" cy="417314"/>
          </a:xfrm>
          <a:prstGeom prst="roundRect">
            <a:avLst>
              <a:gd name="adj" fmla="val 14456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99351" y="3257748"/>
            <a:ext cx="4957699" cy="233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Extração e tratamento manuais</a:t>
            </a:r>
            <a:endParaRPr lang="en-US" sz="1196" dirty="0"/>
          </a:p>
        </p:txBody>
      </p:sp>
      <p:pic>
        <p:nvPicPr>
          <p:cNvPr id="12" name="Image 2" descr="arrow-down">    </p:cNvPr>
          <p:cNvPicPr>
            <a:picLocks noChangeAspect="1"/>
          </p:cNvPicPr>
          <p:nvPr/>
        </p:nvPicPr>
        <p:blipFill>
          <a:blip r:embed="rId3"/>
          <a:srcRect l="0" r="0" t="-1042" b="-1042"/>
          <a:stretch/>
        </p:blipFill>
        <p:spPr>
          <a:xfrm>
            <a:off x="3276600" y="3636963"/>
            <a:ext cx="203200" cy="13612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15975" y="3839766"/>
            <a:ext cx="5124450" cy="417413"/>
          </a:xfrm>
          <a:prstGeom prst="roundRect">
            <a:avLst>
              <a:gd name="adj" fmla="val 14452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99351" y="3944541"/>
            <a:ext cx="4957699" cy="233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Consolidação em planilhas</a:t>
            </a:r>
            <a:endParaRPr lang="en-US" sz="1196" dirty="0"/>
          </a:p>
        </p:txBody>
      </p:sp>
      <p:pic>
        <p:nvPicPr>
          <p:cNvPr id="15" name="Image 3" descr="arrow-down">    </p:cNvPr>
          <p:cNvPicPr>
            <a:picLocks noChangeAspect="1"/>
          </p:cNvPicPr>
          <p:nvPr/>
        </p:nvPicPr>
        <p:blipFill>
          <a:blip r:embed="rId4"/>
          <a:srcRect l="0" r="0" t="-1042" b="-1042"/>
          <a:stretch/>
        </p:blipFill>
        <p:spPr>
          <a:xfrm>
            <a:off x="3276600" y="4323854"/>
            <a:ext cx="203200" cy="13612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15975" y="4526657"/>
            <a:ext cx="5124450" cy="417413"/>
          </a:xfrm>
          <a:prstGeom prst="roundRect">
            <a:avLst>
              <a:gd name="adj" fmla="val 14452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899351" y="4631432"/>
            <a:ext cx="4957699" cy="233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Relatórios elaborados sob demanda</a:t>
            </a:r>
            <a:endParaRPr lang="en-US" sz="1196" dirty="0"/>
          </a:p>
        </p:txBody>
      </p:sp>
      <p:pic>
        <p:nvPicPr>
          <p:cNvPr id="18" name="Image 4" descr="arrow-down">    </p:cNvPr>
          <p:cNvPicPr>
            <a:picLocks noChangeAspect="1"/>
          </p:cNvPicPr>
          <p:nvPr/>
        </p:nvPicPr>
        <p:blipFill>
          <a:blip r:embed="rId5"/>
          <a:srcRect l="0" r="0" t="-1042" b="-1042"/>
          <a:stretch/>
        </p:blipFill>
        <p:spPr>
          <a:xfrm>
            <a:off x="3276600" y="5010745"/>
            <a:ext cx="203200" cy="13612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15975" y="5213548"/>
            <a:ext cx="5124450" cy="625277"/>
          </a:xfrm>
          <a:prstGeom prst="roundRect">
            <a:avLst>
              <a:gd name="adj" fmla="val 9648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  <p:txBody>
          <a:bodyPr wrap="square" lIns="65707" tIns="87106" rIns="65707" bIns="61706" rtlCol="0" anchor="t">
            <a:normAutofit/>
          </a:bodyPr>
          <a:lstStyle/>
          <a:p>
            <a:pPr algn="ctr" indent="0" marL="0">
              <a:lnSpc>
                <a:spcPts val="1633"/>
              </a:lnSpc>
              <a:buNone/>
            </a:pPr>
            <a:r>
              <a:rPr lang="en-US" sz="1166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Equipe sem capacitação técnica em coleta, tratamento e automação de dados</a:t>
            </a:r>
            <a:endParaRPr lang="en-US" sz="1166" dirty="0"/>
          </a:p>
        </p:txBody>
      </p:sp>
      <p:sp>
        <p:nvSpPr>
          <p:cNvPr id="20" name="Shape 13"/>
          <p:cNvSpPr/>
          <p:nvPr/>
        </p:nvSpPr>
        <p:spPr>
          <a:xfrm>
            <a:off x="6248400" y="2115443"/>
            <a:ext cx="2164854" cy="264517"/>
          </a:xfrm>
          <a:prstGeom prst="roundRect">
            <a:avLst>
              <a:gd name="adj" fmla="val 14404"/>
            </a:avLst>
          </a:prstGeom>
          <a:solidFill>
            <a:srgbClr val="D32F2F"/>
          </a:solidFill>
          <a:ln/>
        </p:spPr>
      </p:sp>
      <p:sp>
        <p:nvSpPr>
          <p:cNvPr id="21" name="Text 14"/>
          <p:cNvSpPr/>
          <p:nvPr/>
        </p:nvSpPr>
        <p:spPr>
          <a:xfrm>
            <a:off x="6337300" y="2153543"/>
            <a:ext cx="2046666" cy="213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88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SITUAÇÃO IMPLANTADA</a:t>
            </a:r>
            <a:endParaRPr lang="en-US" sz="1088" dirty="0"/>
          </a:p>
        </p:txBody>
      </p:sp>
      <p:sp>
        <p:nvSpPr>
          <p:cNvPr id="22" name="Shape 15"/>
          <p:cNvSpPr/>
          <p:nvPr/>
        </p:nvSpPr>
        <p:spPr>
          <a:xfrm>
            <a:off x="6251575" y="2446635"/>
            <a:ext cx="5124450" cy="397768"/>
          </a:xfrm>
          <a:prstGeom prst="roundRect">
            <a:avLst>
              <a:gd name="adj" fmla="val 15166"/>
            </a:avLst>
          </a:prstGeom>
          <a:solidFill>
            <a:srgbClr val="FFFFFF"/>
          </a:solidFill>
          <a:ln w="6350">
            <a:solidFill>
              <a:srgbClr val="D32F2F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6334951" y="2551410"/>
            <a:ext cx="4957699" cy="213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23"/>
              </a:lnSpc>
              <a:buNone/>
            </a:pPr>
            <a:r>
              <a:rPr lang="en-US" sz="1088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APIs do MITS e do MIP, após renovação do contrato com o IPT</a:t>
            </a:r>
            <a:endParaRPr lang="en-US" sz="1088" dirty="0"/>
          </a:p>
        </p:txBody>
      </p:sp>
      <p:pic>
        <p:nvPicPr>
          <p:cNvPr id="24" name="Image 5" descr="arrow-down">    </p:cNvPr>
          <p:cNvPicPr>
            <a:picLocks noChangeAspect="1"/>
          </p:cNvPicPr>
          <p:nvPr/>
        </p:nvPicPr>
        <p:blipFill>
          <a:blip r:embed="rId6"/>
          <a:srcRect l="0" r="0" t="-1110" b="-1110"/>
          <a:stretch/>
        </p:blipFill>
        <p:spPr>
          <a:xfrm>
            <a:off x="8712200" y="2911078"/>
            <a:ext cx="203200" cy="123329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251575" y="3101082"/>
            <a:ext cx="5124450" cy="397768"/>
          </a:xfrm>
          <a:prstGeom prst="roundRect">
            <a:avLst>
              <a:gd name="adj" fmla="val 15166"/>
            </a:avLst>
          </a:prstGeom>
          <a:solidFill>
            <a:srgbClr val="FFFFFF"/>
          </a:solidFill>
          <a:ln w="6350">
            <a:solidFill>
              <a:srgbClr val="D32F2F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6334951" y="3205857"/>
            <a:ext cx="4957699" cy="213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23"/>
              </a:lnSpc>
              <a:buNone/>
            </a:pPr>
            <a:r>
              <a:rPr lang="en-US" sz="1088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Coleta automatizada e consolidação em Python</a:t>
            </a:r>
            <a:endParaRPr lang="en-US" sz="1088" dirty="0"/>
          </a:p>
        </p:txBody>
      </p:sp>
      <p:pic>
        <p:nvPicPr>
          <p:cNvPr id="27" name="Image 6" descr="arrow-down">    </p:cNvPr>
          <p:cNvPicPr>
            <a:picLocks noChangeAspect="1"/>
          </p:cNvPicPr>
          <p:nvPr/>
        </p:nvPicPr>
        <p:blipFill>
          <a:blip r:embed="rId7"/>
          <a:srcRect l="0" r="0" t="-1110" b="-1110"/>
          <a:stretch/>
        </p:blipFill>
        <p:spPr>
          <a:xfrm>
            <a:off x="8712200" y="3565525"/>
            <a:ext cx="203200" cy="123329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51575" y="3755529"/>
            <a:ext cx="5124450" cy="397768"/>
          </a:xfrm>
          <a:prstGeom prst="roundRect">
            <a:avLst>
              <a:gd name="adj" fmla="val 15166"/>
            </a:avLst>
          </a:prstGeom>
          <a:solidFill>
            <a:srgbClr val="FFFFFF"/>
          </a:solidFill>
          <a:ln w="6350">
            <a:solidFill>
              <a:srgbClr val="D32F2F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6334951" y="3860304"/>
            <a:ext cx="4957699" cy="213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23"/>
              </a:lnSpc>
              <a:buNone/>
            </a:pPr>
            <a:r>
              <a:rPr lang="en-US" sz="1088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Procedimentos definidos e dados estruturados</a:t>
            </a:r>
            <a:endParaRPr lang="en-US" sz="1088" dirty="0"/>
          </a:p>
        </p:txBody>
      </p:sp>
      <p:pic>
        <p:nvPicPr>
          <p:cNvPr id="30" name="Image 7" descr="arrow-down">    </p:cNvPr>
          <p:cNvPicPr>
            <a:picLocks noChangeAspect="1"/>
          </p:cNvPicPr>
          <p:nvPr/>
        </p:nvPicPr>
        <p:blipFill>
          <a:blip r:embed="rId8"/>
          <a:srcRect l="0" r="0" t="-1110" b="-1110"/>
          <a:stretch/>
        </p:blipFill>
        <p:spPr>
          <a:xfrm>
            <a:off x="8712200" y="4219972"/>
            <a:ext cx="203200" cy="123329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251575" y="4409976"/>
            <a:ext cx="5124450" cy="586085"/>
          </a:xfrm>
          <a:prstGeom prst="roundRect">
            <a:avLst>
              <a:gd name="adj" fmla="val 10293"/>
            </a:avLst>
          </a:prstGeom>
          <a:solidFill>
            <a:srgbClr val="FFFFFF"/>
          </a:solidFill>
          <a:ln w="6350">
            <a:solidFill>
              <a:srgbClr val="D32F2F"/>
            </a:solidFill>
            <a:prstDash val="solid"/>
          </a:ln>
        </p:spPr>
        <p:txBody>
          <a:bodyPr wrap="square" lIns="65707" tIns="87106" rIns="65707" bIns="61706" rtlCol="0" anchor="t">
            <a:normAutofit/>
          </a:bodyPr>
          <a:lstStyle/>
          <a:p>
            <a:pPr algn="ctr" indent="0" marL="0">
              <a:lnSpc>
                <a:spcPts val="1486"/>
              </a:lnSpc>
              <a:buNone/>
            </a:pPr>
            <a:r>
              <a:rPr lang="en-US" sz="106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Primeiros painéis publicados em cciocorrencias.com, primeiro sítio de dados do CCI</a:t>
            </a:r>
            <a:endParaRPr lang="en-US" sz="1061" dirty="0"/>
          </a:p>
        </p:txBody>
      </p:sp>
      <p:pic>
        <p:nvPicPr>
          <p:cNvPr id="32" name="Image 8" descr="arrow-down">    </p:cNvPr>
          <p:cNvPicPr>
            <a:picLocks noChangeAspect="1"/>
          </p:cNvPicPr>
          <p:nvPr/>
        </p:nvPicPr>
        <p:blipFill>
          <a:blip r:embed="rId9"/>
          <a:srcRect l="0" r="0" t="-1110" b="-1110"/>
          <a:stretch/>
        </p:blipFill>
        <p:spPr>
          <a:xfrm>
            <a:off x="8712200" y="5062736"/>
            <a:ext cx="203200" cy="123329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6251575" y="5252740"/>
            <a:ext cx="5124450" cy="586085"/>
          </a:xfrm>
          <a:prstGeom prst="roundRect">
            <a:avLst>
              <a:gd name="adj" fmla="val 10293"/>
            </a:avLst>
          </a:prstGeom>
          <a:solidFill>
            <a:srgbClr val="FFFFFF"/>
          </a:solidFill>
          <a:ln w="6350">
            <a:solidFill>
              <a:srgbClr val="D32F2F"/>
            </a:solidFill>
            <a:prstDash val="solid"/>
          </a:ln>
        </p:spPr>
        <p:txBody>
          <a:bodyPr wrap="none" lIns="0" tIns="87106" rIns="0" bIns="61706" rtlCol="0" anchor="t">
            <a:normAutofit/>
          </a:bodyPr>
          <a:lstStyle/>
          <a:p>
            <a:pPr algn="ctr" indent="0" marL="0">
              <a:lnSpc>
                <a:spcPts val="1523"/>
              </a:lnSpc>
              <a:buNone/>
            </a:pPr>
            <a:r>
              <a:rPr lang="en-US" sz="1088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Capacitação da equipe em práticas modernas, orientada pelo proponente</a:t>
            </a:r>
            <a:endParaRPr lang="en-US" sz="1088" dirty="0"/>
          </a:p>
        </p:txBody>
      </p:sp>
      <p:sp>
        <p:nvSpPr>
          <p:cNvPr id="34" name="Text 2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cciocorrencias.com → cci.artesp.sp.gov.br → ccm.artesp.sp.gov.br, o atual Portal CCM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ESP">    </p:cNvPr>
          <p:cNvPicPr>
            <a:picLocks noChangeAspect="1"/>
          </p:cNvPicPr>
          <p:nvPr/>
        </p:nvPicPr>
        <p:blipFill>
          <a:blip r:embed="rId1"/>
          <a:srcRect l="0" r="0" t="-140" b="-140"/>
          <a:stretch/>
        </p:blipFill>
        <p:spPr>
          <a:xfrm>
            <a:off x="10369550" y="812800"/>
            <a:ext cx="1009650" cy="279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ECOSSISTEMA ATUAL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178520"/>
            <a:ext cx="9156700" cy="480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Oito aplicações desenvolvidas no CCM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15975" y="1789212"/>
            <a:ext cx="2520950" cy="1408311"/>
          </a:xfrm>
          <a:prstGeom prst="roundRect">
            <a:avLst>
              <a:gd name="adj" fmla="val 5185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1550" y="1944787"/>
            <a:ext cx="1222474" cy="289520"/>
          </a:xfrm>
          <a:prstGeom prst="roundRect">
            <a:avLst>
              <a:gd name="adj" fmla="val 13160"/>
            </a:avLst>
          </a:prstGeom>
          <a:solidFill>
            <a:srgbClr val="14141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PRODUÇÃO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71550" y="2310507"/>
            <a:ext cx="22760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Portal CCM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71550" y="2615307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Público: geral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95675" y="1789212"/>
            <a:ext cx="2520950" cy="1408311"/>
          </a:xfrm>
          <a:prstGeom prst="roundRect">
            <a:avLst>
              <a:gd name="adj" fmla="val 5185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1250" y="1944787"/>
            <a:ext cx="1222474" cy="289520"/>
          </a:xfrm>
          <a:prstGeom prst="roundRect">
            <a:avLst>
              <a:gd name="adj" fmla="val 13160"/>
            </a:avLst>
          </a:prstGeom>
          <a:solidFill>
            <a:srgbClr val="14141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PRODUÇÃO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51250" y="2310507"/>
            <a:ext cx="22760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Codifica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651250" y="2615307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Público: concessionárias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5375" y="1789212"/>
            <a:ext cx="2520950" cy="1408311"/>
          </a:xfrm>
          <a:prstGeom prst="roundRect">
            <a:avLst>
              <a:gd name="adj" fmla="val 5185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30950" y="1944787"/>
            <a:ext cx="1222474" cy="289520"/>
          </a:xfrm>
          <a:prstGeom prst="roundRect">
            <a:avLst>
              <a:gd name="adj" fmla="val 13160"/>
            </a:avLst>
          </a:prstGeom>
          <a:solidFill>
            <a:srgbClr val="14141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PRODUÇÃO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330950" y="2310507"/>
            <a:ext cx="22760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Dados Abertos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330950" y="2615307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Público: cidadão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55075" y="1789212"/>
            <a:ext cx="2520950" cy="1408311"/>
          </a:xfrm>
          <a:prstGeom prst="roundRect">
            <a:avLst>
              <a:gd name="adj" fmla="val 5185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10650" y="1944787"/>
            <a:ext cx="1222474" cy="289520"/>
          </a:xfrm>
          <a:prstGeom prst="roundRect">
            <a:avLst>
              <a:gd name="adj" fmla="val 13160"/>
            </a:avLst>
          </a:prstGeom>
          <a:solidFill>
            <a:srgbClr val="14141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PRODUÇÃO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010650" y="2310507"/>
            <a:ext cx="22760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Passagens OCR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010650" y="2615307"/>
            <a:ext cx="227609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Público: interno, usuários autorizados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15975" y="3356273"/>
            <a:ext cx="2520950" cy="1408311"/>
          </a:xfrm>
          <a:prstGeom prst="roundRect">
            <a:avLst>
              <a:gd name="adj" fmla="val 5185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71550" y="3511848"/>
            <a:ext cx="1222474" cy="289520"/>
          </a:xfrm>
          <a:prstGeom prst="roundRect">
            <a:avLst>
              <a:gd name="adj" fmla="val 13160"/>
            </a:avLst>
          </a:prstGeom>
          <a:solidFill>
            <a:srgbClr val="14141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PRODUÇÃO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71550" y="3877568"/>
            <a:ext cx="22760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 Storage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71550" y="4182368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Público: CCM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495675" y="3356273"/>
            <a:ext cx="2520950" cy="1408311"/>
          </a:xfrm>
          <a:prstGeom prst="roundRect">
            <a:avLst>
              <a:gd name="adj" fmla="val 5185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1250" y="3511848"/>
            <a:ext cx="1639193" cy="289520"/>
          </a:xfrm>
          <a:prstGeom prst="roundRect">
            <a:avLst>
              <a:gd name="adj" fmla="val 13160"/>
            </a:avLst>
          </a:prstGeom>
          <a:solidFill>
            <a:srgbClr val="E3E3E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HOMOLOGAÇÃO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651250" y="3877568"/>
            <a:ext cx="22760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GeoEntregas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3651250" y="4182368"/>
            <a:ext cx="227609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Público: concessionárias e ARTESP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175375" y="3356273"/>
            <a:ext cx="2520950" cy="1408311"/>
          </a:xfrm>
          <a:prstGeom prst="roundRect">
            <a:avLst>
              <a:gd name="adj" fmla="val 5185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30950" y="3511848"/>
            <a:ext cx="1639193" cy="289520"/>
          </a:xfrm>
          <a:prstGeom prst="roundRect">
            <a:avLst>
              <a:gd name="adj" fmla="val 13160"/>
            </a:avLst>
          </a:prstGeom>
          <a:solidFill>
            <a:srgbClr val="E3E3E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HOMOLOGAÇÃO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330950" y="3877568"/>
            <a:ext cx="22760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OpenMetadata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330950" y="4182368"/>
            <a:ext cx="227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Público: ARTESP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855075" y="3356273"/>
            <a:ext cx="2520950" cy="1408311"/>
          </a:xfrm>
          <a:prstGeom prst="roundRect">
            <a:avLst>
              <a:gd name="adj" fmla="val 5185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010650" y="3511848"/>
            <a:ext cx="1639193" cy="289520"/>
          </a:xfrm>
          <a:prstGeom prst="roundRect">
            <a:avLst>
              <a:gd name="adj" fmla="val 13160"/>
            </a:avLst>
          </a:prstGeom>
          <a:solidFill>
            <a:srgbClr val="E3E3E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HOMOLOGAÇÃO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9010650" y="3877568"/>
            <a:ext cx="22760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CCM Ocorrências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010650" y="4182368"/>
            <a:ext cx="227609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Público: concessionárias e CCM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12800" y="4920159"/>
            <a:ext cx="10464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Cinco em produção e três em homologação, todas desenvolvidas e implantadas internamente, sobre software livre.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Situação em 02/10/2026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ESP">    </p:cNvPr>
          <p:cNvPicPr>
            <a:picLocks noChangeAspect="1"/>
          </p:cNvPicPr>
          <p:nvPr/>
        </p:nvPicPr>
        <p:blipFill>
          <a:blip r:embed="rId1"/>
          <a:srcRect l="0" r="0" t="-140" b="-140"/>
          <a:stretch/>
        </p:blipFill>
        <p:spPr>
          <a:xfrm>
            <a:off x="10369550" y="812800"/>
            <a:ext cx="1009650" cy="279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 PRODUÇÃO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178520"/>
            <a:ext cx="9156700" cy="480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Cinco aplicações em operação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15975" y="1789212"/>
            <a:ext cx="1984970" cy="2497733"/>
          </a:xfrm>
          <a:prstGeom prst="roundRect">
            <a:avLst>
              <a:gd name="adj" fmla="val 3679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71550" y="1944787"/>
            <a:ext cx="304800" cy="3810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/>
        </p:spPr>
      </p:sp>
      <p:sp>
        <p:nvSpPr>
          <p:cNvPr id="7" name="Text 4"/>
          <p:cNvSpPr/>
          <p:nvPr/>
        </p:nvSpPr>
        <p:spPr>
          <a:xfrm>
            <a:off x="971550" y="2059087"/>
            <a:ext cx="17246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Portal CCM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71550" y="2348607"/>
            <a:ext cx="1724620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Acompanhamento de dados próximos do tempo real de todos os modais, com catálogo de painéis.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71550" y="3491409"/>
            <a:ext cx="17246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ccm.artesp.sp.gov.br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959695" y="1789212"/>
            <a:ext cx="1984970" cy="2497733"/>
          </a:xfrm>
          <a:prstGeom prst="roundRect">
            <a:avLst>
              <a:gd name="adj" fmla="val 3679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15270" y="1944787"/>
            <a:ext cx="304800" cy="3810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/>
        </p:spPr>
      </p:sp>
      <p:sp>
        <p:nvSpPr>
          <p:cNvPr id="12" name="Text 9"/>
          <p:cNvSpPr/>
          <p:nvPr/>
        </p:nvSpPr>
        <p:spPr>
          <a:xfrm>
            <a:off x="3115270" y="2059087"/>
            <a:ext cx="17246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Codifica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115270" y="2348607"/>
            <a:ext cx="1724620" cy="1305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Emissão de códigos para os protocolos das concessionárias e gestão dos documentos recebidos.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115270" y="3704729"/>
            <a:ext cx="172462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codifica.artesp.sp.gov.br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103416" y="1789212"/>
            <a:ext cx="1985070" cy="2497733"/>
          </a:xfrm>
          <a:prstGeom prst="roundRect">
            <a:avLst>
              <a:gd name="adj" fmla="val 3679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258991" y="1944787"/>
            <a:ext cx="304800" cy="3810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/>
        </p:spPr>
      </p:sp>
      <p:sp>
        <p:nvSpPr>
          <p:cNvPr id="17" name="Text 14"/>
          <p:cNvSpPr/>
          <p:nvPr/>
        </p:nvSpPr>
        <p:spPr>
          <a:xfrm>
            <a:off x="5258991" y="2059087"/>
            <a:ext cx="17247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Dados Abertos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258991" y="2348607"/>
            <a:ext cx="1724720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Portal CKAN com catálogo no padrão DCAT e séries não sensíveis em formato aberto.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258991" y="3491409"/>
            <a:ext cx="172472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dadosabertos.artesp.sp.gov.br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247235" y="1789212"/>
            <a:ext cx="1984970" cy="2497733"/>
          </a:xfrm>
          <a:prstGeom prst="roundRect">
            <a:avLst>
              <a:gd name="adj" fmla="val 3679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02810" y="1944787"/>
            <a:ext cx="304800" cy="3810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/>
        </p:spPr>
      </p:sp>
      <p:sp>
        <p:nvSpPr>
          <p:cNvPr id="22" name="Text 19"/>
          <p:cNvSpPr/>
          <p:nvPr/>
        </p:nvSpPr>
        <p:spPr>
          <a:xfrm>
            <a:off x="7402810" y="2059087"/>
            <a:ext cx="17246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Passagens OCR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402810" y="2348607"/>
            <a:ext cx="1724620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 às leituras de placas nas rodovias concedidas, com acesso restrito a usuários autorizados.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402810" y="3491409"/>
            <a:ext cx="17246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interno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9390955" y="1789212"/>
            <a:ext cx="1985070" cy="2497733"/>
          </a:xfrm>
          <a:prstGeom prst="roundRect">
            <a:avLst>
              <a:gd name="adj" fmla="val 3679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546530" y="1944787"/>
            <a:ext cx="304800" cy="3810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/>
        </p:spPr>
      </p:sp>
      <p:sp>
        <p:nvSpPr>
          <p:cNvPr id="27" name="Text 24"/>
          <p:cNvSpPr/>
          <p:nvPr/>
        </p:nvSpPr>
        <p:spPr>
          <a:xfrm>
            <a:off x="9546530" y="2059087"/>
            <a:ext cx="17247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 Storage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546530" y="2348607"/>
            <a:ext cx="1724720" cy="1305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Armazenamento institucional compatível com S3, com antivírus, permissões por bucket e auditoria.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546530" y="3704729"/>
            <a:ext cx="17247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do CCM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Desenvolvidas e implantadas internamente no CCM · situação em 02/10/2026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ESP">    </p:cNvPr>
          <p:cNvPicPr>
            <a:picLocks noChangeAspect="1"/>
          </p:cNvPicPr>
          <p:nvPr/>
        </p:nvPicPr>
        <p:blipFill>
          <a:blip r:embed="rId1"/>
          <a:srcRect l="0" r="0" t="-140" b="-140"/>
          <a:stretch/>
        </p:blipFill>
        <p:spPr>
          <a:xfrm>
            <a:off x="10369550" y="812800"/>
            <a:ext cx="1009650" cy="279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 HOMOLOGAÇÃO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178520"/>
            <a:ext cx="9156700" cy="935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Três aplicações para recepção e conhecimento dos dados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15975" y="2244328"/>
            <a:ext cx="3380284" cy="3186212"/>
          </a:xfrm>
          <a:prstGeom prst="roundRect">
            <a:avLst>
              <a:gd name="adj" fmla="val 2292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22350" y="2450703"/>
            <a:ext cx="1639193" cy="289520"/>
          </a:xfrm>
          <a:prstGeom prst="roundRect">
            <a:avLst>
              <a:gd name="adj" fmla="val 13160"/>
            </a:avLst>
          </a:prstGeom>
          <a:solidFill>
            <a:srgbClr val="E3E3E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HOMOLOGAÇÃO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22350" y="2829123"/>
            <a:ext cx="30565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GeoEntregas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22350" y="3146623"/>
            <a:ext cx="3056560" cy="1351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Recepção, validação e visualização dos conjuntos de dados georreferenciados entregues pelas concessionárias. A ARTESP define a estrutura exigida de cada conjunto e audita o conteúdo recebido.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22350" y="4561284"/>
            <a:ext cx="3056560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entrega corresponde ao estado integral do conjunto, não a uma atualização parcial.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05809" y="2244328"/>
            <a:ext cx="3380284" cy="3186212"/>
          </a:xfrm>
          <a:prstGeom prst="roundRect">
            <a:avLst>
              <a:gd name="adj" fmla="val 2292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12184" y="2450703"/>
            <a:ext cx="1639193" cy="289520"/>
          </a:xfrm>
          <a:prstGeom prst="roundRect">
            <a:avLst>
              <a:gd name="adj" fmla="val 13160"/>
            </a:avLst>
          </a:prstGeom>
          <a:solidFill>
            <a:srgbClr val="E3E3E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HOMOLOGAÇÃO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12184" y="2829123"/>
            <a:ext cx="30565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OpenMetadata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612184" y="3146623"/>
            <a:ext cx="3056560" cy="909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Catálogo e governança dos metadados das bases de dados existentes na agência, integrado ao diretório institucional de usuários.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612184" y="4119364"/>
            <a:ext cx="3056560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 o inventário das bases, seu conteúdo e os responsáveis por cada uma.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995642" y="2244328"/>
            <a:ext cx="3380284" cy="3186212"/>
          </a:xfrm>
          <a:prstGeom prst="roundRect">
            <a:avLst>
              <a:gd name="adj" fmla="val 2292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02017" y="2450703"/>
            <a:ext cx="1639193" cy="289520"/>
          </a:xfrm>
          <a:prstGeom prst="roundRect">
            <a:avLst>
              <a:gd name="adj" fmla="val 13160"/>
            </a:avLst>
          </a:prstGeom>
          <a:solidFill>
            <a:srgbClr val="E3E3E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HOMOLOGAÇÃO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02017" y="2829123"/>
            <a:ext cx="30565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CCM Ocorrências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202017" y="3146623"/>
            <a:ext cx="3056560" cy="11302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Registro, tratamento e publicação das ocorrências das concessionárias. O envio ocorre por interface ou por API; o CCM revisa, solicita complementações, trata as imagens e autoriza a publicação.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02017" y="4340324"/>
            <a:ext cx="305656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Histórico integral preservado: nenhuma alteração é descartada.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Recepção segundo regras definidas pela agência e inventário das bases existentes: fundamentos da governança proposta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ESP">    </p:cNvPr>
          <p:cNvPicPr>
            <a:picLocks noChangeAspect="1"/>
          </p:cNvPicPr>
          <p:nvPr/>
        </p:nvPicPr>
        <p:blipFill>
          <a:blip r:embed="rId1"/>
          <a:srcRect l="0" r="0" t="-140" b="-140"/>
          <a:stretch/>
        </p:blipFill>
        <p:spPr>
          <a:xfrm>
            <a:off x="10369550" y="812800"/>
            <a:ext cx="1009650" cy="279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DE CONSTRUÇÃO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178520"/>
            <a:ext cx="9156700" cy="480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Software livre, sem custo para a agência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12800" y="1786037"/>
            <a:ext cx="1046480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oito aplicações foram desenvolvidas e implantadas internamente sobre software livre. Nenhuma delas gerou custo de licença ou de contratação.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12800" y="2453977"/>
            <a:ext cx="10566400" cy="3046413"/>
          </a:xfrm>
          <a:prstGeom prst="roundRect">
            <a:avLst>
              <a:gd name="adj" fmla="val 2501"/>
            </a:avLst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812800" y="2453977"/>
            <a:ext cx="10566400" cy="3046413"/>
          </a:xfrm>
          <a:custGeom>
            <a:avLst/>
            <a:gdLst/>
            <a:ahLst/>
            <a:cxnLst/>
            <a:rect l="l" t="t" r="r" b="b"/>
            <a:pathLst>
              <a:path w="10566400" h="3046413">
                <a:moveTo>
                  <a:pt x="10490200" y="0"/>
                </a:moveTo>
                <a:lnTo>
                  <a:pt x="10490200" y="0"/>
                </a:lnTo>
                <a:arcTo hR="76200" wR="76200" stAng="16200000" swAng="5400000"/>
                <a:lnTo>
                  <a:pt x="10566400" y="2970213"/>
                </a:lnTo>
                <a:arcTo hR="76200" wR="76200" stAng="0" swAng="5400000"/>
                <a:lnTo>
                  <a:pt x="76200" y="3046413"/>
                </a:lnTo>
                <a:arcTo hR="76200" wR="76200" stAng="5400000" swAng="5400000"/>
                <a:lnTo>
                  <a:pt x="0" y="2970213"/>
                </a:lnTo>
                <a:arcTo hR="69850" wR="76200" stAng="10800000" swAng="-5400000"/>
                <a:lnTo>
                  <a:pt x="10490200" y="3040063"/>
                </a:lnTo>
                <a:arcTo hR="69850" wR="69850" stAng="5400000" swAng="-5400000"/>
                <a:lnTo>
                  <a:pt x="10560050" y="76200"/>
                </a:lnTo>
                <a:arcTo hR="76200" wR="69850" stAng="0" swAng="-5400000"/>
                <a:close/>
              </a:path>
            </a:pathLst>
          </a:custGeom>
          <a:solidFill>
            <a:srgbClr val="E2E2E2"/>
          </a:solidFill>
          <a:ln/>
        </p:spPr>
      </p:sp>
      <p:sp>
        <p:nvSpPr>
          <p:cNvPr id="8" name="Shape 5"/>
          <p:cNvSpPr/>
          <p:nvPr/>
        </p:nvSpPr>
        <p:spPr>
          <a:xfrm>
            <a:off x="812800" y="2453977"/>
            <a:ext cx="10566400" cy="3046413"/>
          </a:xfrm>
          <a:custGeom>
            <a:avLst/>
            <a:gdLst/>
            <a:ahLst/>
            <a:cxnLst/>
            <a:rect l="l" t="t" r="r" b="b"/>
            <a:pathLst>
              <a:path w="10566400" h="3046413">
                <a:moveTo>
                  <a:pt x="76200" y="3046413"/>
                </a:moveTo>
                <a:lnTo>
                  <a:pt x="76200" y="3046413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10490200" y="0"/>
                </a:lnTo>
                <a:arcTo hR="76200" wR="76200" stAng="16200000" swAng="5400000"/>
                <a:lnTo>
                  <a:pt x="10566400" y="76200"/>
                </a:lnTo>
                <a:arcTo hR="63500" wR="76200" stAng="0" swAng="-5400000"/>
                <a:lnTo>
                  <a:pt x="76200" y="12700"/>
                </a:lnTo>
                <a:arcTo hR="63500" wR="63500" stAng="16200000" swAng="-5400000"/>
                <a:lnTo>
                  <a:pt x="12700" y="2970213"/>
                </a:lnTo>
                <a:arcTo hR="76200" wR="635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466677"/>
          <a:ext cx="10547350" cy="3027363"/>
        </p:xfrm>
        <a:graphic>
          <a:graphicData uri="http://schemas.openxmlformats.org/drawingml/2006/table">
            <a:tbl>
              <a:tblPr/>
              <a:tblGrid>
                <a:gridCol w="2953258"/>
                <a:gridCol w="7594092"/>
              </a:tblGrid>
              <a:tr h="3784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Aplicação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Base de software livre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3784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Dados Abertos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CKAN, PostgreSQL com PostGIS, Solr, Redis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4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4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Portal CCM e Codifica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Django, Redis, PostgreSQL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784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Passagens OCR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PostgreSQL, ClickHouse, Redis, SeaweedFS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4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Object Storage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SeaweedFS, painel administrativo em Go, PostgreSQL, ClamAV, Caddy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784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GeoEntregas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Django com extensão geográfica, PostgreSQL, tusd, Caddy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4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OpenMetadata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OpenMetadata, k3s, Helm, PostgreSQL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784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CCM Ocorrências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76200" marB="7620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C3C3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Django, Next.js, PostgreSQL, SeaweedFS, ClamAV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Implantação com Docker Compose, Ansible e k3s na infraestrutura institucional · o mesmo modelo orienta a proposta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ESP">    </p:cNvPr>
          <p:cNvPicPr>
            <a:picLocks noChangeAspect="1"/>
          </p:cNvPicPr>
          <p:nvPr/>
        </p:nvPicPr>
        <p:blipFill>
          <a:blip r:embed="rId1"/>
          <a:srcRect l="0" r="0" t="-140" b="-140"/>
          <a:stretch/>
        </p:blipFill>
        <p:spPr>
          <a:xfrm>
            <a:off x="10369550" y="812800"/>
            <a:ext cx="1009650" cy="2794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812800"/>
            <a:ext cx="9156700" cy="480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Plano de Coleta de Dados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5975" y="1372691"/>
            <a:ext cx="10560050" cy="1073150"/>
          </a:xfrm>
          <a:prstGeom prst="roundRect">
            <a:avLst>
              <a:gd name="adj" fmla="val 6805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2350" y="1695946"/>
            <a:ext cx="222377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Governança proposta no plano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387725" y="1546721"/>
            <a:ext cx="2805113" cy="32127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Superintendências titulares do dado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75388" y="1546721"/>
            <a:ext cx="2208709" cy="32127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Stewards por gerência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66646" y="1546721"/>
            <a:ext cx="2589609" cy="32127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Comitê de Governança de Dados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87725" y="1950541"/>
            <a:ext cx="2548533" cy="32127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Contratos de dados versionados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18808" y="1950541"/>
            <a:ext cx="2558752" cy="32127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Índice de qualidade por remessa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15975" y="3468191"/>
            <a:ext cx="3295650" cy="2025650"/>
          </a:xfrm>
          <a:prstGeom prst="roundRect">
            <a:avLst>
              <a:gd name="adj" fmla="val 3605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96950" y="3649166"/>
            <a:ext cx="30217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CANAL OPERACIONAL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96950" y="3938687"/>
            <a:ext cx="302171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Portal CCM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96950" y="4243487"/>
            <a:ext cx="3021711" cy="890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Eventos, fluxos e situação dos ativos de todos os modais. Tempo real inferior a 5 minutos; próximo do tempo real inferior a 60 minutos.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448175" y="3468191"/>
            <a:ext cx="3295650" cy="2025650"/>
          </a:xfrm>
          <a:prstGeom prst="roundRect">
            <a:avLst>
              <a:gd name="adj" fmla="val 3605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29150" y="3649166"/>
            <a:ext cx="30217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TRANSPARÊNCIA ATIVA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629150" y="3938687"/>
            <a:ext cx="302171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Portal de Dados Abertos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629150" y="4243487"/>
            <a:ext cx="3021711" cy="890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Séries históricas e indicadores consolidados, não sensíveis, em formato aberto, conforme matriz de classificação.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080375" y="3468191"/>
            <a:ext cx="3295650" cy="2025650"/>
          </a:xfrm>
          <a:prstGeom prst="roundRect">
            <a:avLst>
              <a:gd name="adj" fmla="val 3605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61350" y="3649166"/>
            <a:ext cx="30217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DECISÃO INTERNA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261350" y="3938687"/>
            <a:ext cx="302171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Painéis internos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261350" y="4243487"/>
            <a:ext cx="3021711" cy="890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Executivos e operacionais, com acesso restrito e autenticado, voltados a tendências e ao apoio à decisão regulatória.</a:t>
            </a:r>
            <a:endParaRPr lang="en-US" sz="1200" dirty="0"/>
          </a:p>
        </p:txBody>
      </p:sp>
      <p:pic>
        <p:nvPicPr>
          <p:cNvPr id="23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45200" y="2398216"/>
            <a:ext cx="101600" cy="965200"/>
          </a:xfrm>
          <a:prstGeom prst="rect">
            <a:avLst/>
          </a:prstGeom>
        </p:spPr>
      </p:pic>
      <p:pic>
        <p:nvPicPr>
          <p:cNvPr id="24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413000" y="3261816"/>
            <a:ext cx="7366000" cy="101600"/>
          </a:xfrm>
          <a:prstGeom prst="rect">
            <a:avLst/>
          </a:prstGeom>
        </p:spPr>
      </p:pic>
      <p:pic>
        <p:nvPicPr>
          <p:cNvPr id="25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413000" y="3261816"/>
            <a:ext cx="101600" cy="254000"/>
          </a:xfrm>
          <a:prstGeom prst="rect">
            <a:avLst/>
          </a:prstGeom>
        </p:spPr>
      </p:pic>
      <p:pic>
        <p:nvPicPr>
          <p:cNvPr id="26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045200" y="3261816"/>
            <a:ext cx="101600" cy="254000"/>
          </a:xfrm>
          <a:prstGeom prst="rect">
            <a:avLst/>
          </a:prstGeom>
        </p:spPr>
      </p:pic>
      <p:pic>
        <p:nvPicPr>
          <p:cNvPr id="27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677400" y="3261816"/>
            <a:ext cx="101600" cy="2540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Elaboração: proponente, em conjunto com a GEIND · apresentação em janeiro de 2026 · condução posterior: gestores do CCM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ESP">    </p:cNvPr>
          <p:cNvPicPr>
            <a:picLocks noChangeAspect="1"/>
          </p:cNvPicPr>
          <p:nvPr/>
        </p:nvPicPr>
        <p:blipFill>
          <a:blip r:embed="rId1"/>
          <a:srcRect l="0" r="0" t="-140" b="-140"/>
          <a:stretch/>
        </p:blipFill>
        <p:spPr>
          <a:xfrm>
            <a:off x="10369550" y="812800"/>
            <a:ext cx="1009650" cy="2794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812800"/>
            <a:ext cx="9156700" cy="480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Termos de referência e propostas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2800" y="2068016"/>
            <a:ext cx="10566400" cy="19050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5" name="Text 2"/>
          <p:cNvSpPr/>
          <p:nvPr/>
        </p:nvSpPr>
        <p:spPr>
          <a:xfrm>
            <a:off x="812800" y="1483816"/>
            <a:ext cx="248539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Apoio operacional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530600" y="1483816"/>
            <a:ext cx="248539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Reformulação do MITS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48400" y="1483816"/>
            <a:ext cx="248539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Reforma do CCM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6200" y="1483816"/>
            <a:ext cx="248539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Plataforma Multimodal</a:t>
            </a:r>
            <a:endParaRPr lang="en-US" sz="1400" dirty="0"/>
          </a:p>
        </p:txBody>
      </p:sp>
      <p:pic>
        <p:nvPicPr>
          <p:cNvPr id="9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962150" y="2017216"/>
            <a:ext cx="114300" cy="114300"/>
          </a:xfrm>
          <a:prstGeom prst="rect">
            <a:avLst/>
          </a:prstGeom>
        </p:spPr>
      </p:pic>
      <p:pic>
        <p:nvPicPr>
          <p:cNvPr id="10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79950" y="2017216"/>
            <a:ext cx="114300" cy="114300"/>
          </a:xfrm>
          <a:prstGeom prst="rect">
            <a:avLst/>
          </a:prstGeom>
        </p:spPr>
      </p:pic>
      <p:pic>
        <p:nvPicPr>
          <p:cNvPr id="11" name="Image 3" descr="ellips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97750" y="2017216"/>
            <a:ext cx="114300" cy="114300"/>
          </a:xfrm>
          <a:prstGeom prst="rect">
            <a:avLst/>
          </a:prstGeom>
        </p:spPr>
      </p:pic>
      <p:pic>
        <p:nvPicPr>
          <p:cNvPr id="12" name="Image 4" descr="ellips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115550" y="2017216"/>
            <a:ext cx="114300" cy="114300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815975" y="2452191"/>
            <a:ext cx="2406650" cy="2787650"/>
          </a:xfrm>
          <a:prstGeom prst="roundRect">
            <a:avLst>
              <a:gd name="adj" fmla="val 303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996950" y="2633166"/>
            <a:ext cx="1427659" cy="289520"/>
          </a:xfrm>
          <a:prstGeom prst="roundRect">
            <a:avLst>
              <a:gd name="adj" fmla="val 13160"/>
            </a:avLst>
          </a:prstGeom>
          <a:solidFill>
            <a:srgbClr val="14141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CONTRATADO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996950" y="2998887"/>
            <a:ext cx="2106041" cy="1323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Termo de referência concluído. Operação contínua, equipe analítica, plataforma de gestão com evidências e medição por hora efetiva.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996950" y="4373463"/>
            <a:ext cx="2106041" cy="458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Início da execução em 01/10/2026.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3533775" y="2452191"/>
            <a:ext cx="2406650" cy="2787650"/>
          </a:xfrm>
          <a:prstGeom prst="roundRect">
            <a:avLst>
              <a:gd name="adj" fmla="val 303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3714750" y="2633166"/>
            <a:ext cx="1528266" cy="289520"/>
          </a:xfrm>
          <a:prstGeom prst="roundRect">
            <a:avLst>
              <a:gd name="adj" fmla="val 13160"/>
            </a:avLst>
          </a:prstGeom>
          <a:solidFill>
            <a:srgbClr val="E3E3E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AVANÇOU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3714750" y="2998887"/>
            <a:ext cx="2106041" cy="890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Termo de referência concluído, com escopo restrito ao domínio rodoviário.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3714750" y="3940671"/>
            <a:ext cx="2106041" cy="674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avançou, em favor da priorização da Plataforma Multimodal.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6251575" y="2452191"/>
            <a:ext cx="2406650" cy="2787650"/>
          </a:xfrm>
          <a:prstGeom prst="roundRect">
            <a:avLst>
              <a:gd name="adj" fmla="val 303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432550" y="2633166"/>
            <a:ext cx="1553766" cy="289520"/>
          </a:xfrm>
          <a:prstGeom prst="roundRect">
            <a:avLst>
              <a:gd name="adj" fmla="val 13160"/>
            </a:avLst>
          </a:prstGeom>
          <a:solidFill>
            <a:srgbClr val="14141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 CONCLUÍDO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6432550" y="2998887"/>
            <a:ext cx="2106041" cy="890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Projetos básico e executivo, reforma e implantação da infraestrutura física e tecnológica do novo centro.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6432550" y="3940671"/>
            <a:ext cx="2106041" cy="241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Contratação não iniciada.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8969375" y="2452191"/>
            <a:ext cx="2406650" cy="2787650"/>
          </a:xfrm>
          <a:prstGeom prst="roundRect">
            <a:avLst>
              <a:gd name="adj" fmla="val 3034"/>
            </a:avLst>
          </a:prstGeom>
          <a:solidFill>
            <a:srgbClr val="FFFFFF"/>
          </a:solidFill>
          <a:ln w="6350">
            <a:solidFill>
              <a:srgbClr val="D32F2F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9150350" y="2633166"/>
            <a:ext cx="1162149" cy="289520"/>
          </a:xfrm>
          <a:prstGeom prst="roundRect">
            <a:avLst>
              <a:gd name="adj" fmla="val 13160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PROPOSTA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9150350" y="2998887"/>
            <a:ext cx="2106041" cy="1107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Proposta em planejamento: camada de dados própria da agência e software multimodal contratado para operar sobre ela.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9150350" y="4157067"/>
            <a:ext cx="2106041" cy="674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termo de referência; objeto a definir após avaliação de viabilidade.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Elaboração dos termos de referência: proponente · Condução das contratações: gestores do CCM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ESP">    </p:cNvPr>
          <p:cNvPicPr>
            <a:picLocks noChangeAspect="1"/>
          </p:cNvPicPr>
          <p:nvPr/>
        </p:nvPicPr>
        <p:blipFill>
          <a:blip r:embed="rId1"/>
          <a:srcRect l="0" r="0" t="-140" b="-140"/>
          <a:stretch/>
        </p:blipFill>
        <p:spPr>
          <a:xfrm>
            <a:off x="10369550" y="812800"/>
            <a:ext cx="1009650" cy="279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17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88" b="1" spc="150" kern="0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 01 · CONTRATADO · EM EXECUÇÃO DESDE 01/10/2026</a:t>
            </a:r>
            <a:endParaRPr lang="en-US" sz="1088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157387"/>
            <a:ext cx="9156700" cy="8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37"/>
              </a:lnSpc>
              <a:buNone/>
            </a:pPr>
            <a:r>
              <a:rPr lang="en-US" sz="2890" b="1" i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Apoio operacional pago por execução comprovada</a:t>
            </a:r>
            <a:endParaRPr lang="en-US" sz="2890" dirty="0"/>
          </a:p>
        </p:txBody>
      </p:sp>
      <p:sp>
        <p:nvSpPr>
          <p:cNvPr id="5" name="Shape 2"/>
          <p:cNvSpPr/>
          <p:nvPr/>
        </p:nvSpPr>
        <p:spPr>
          <a:xfrm>
            <a:off x="815975" y="2133005"/>
            <a:ext cx="2540000" cy="1501874"/>
          </a:xfrm>
          <a:prstGeom prst="roundRect">
            <a:avLst>
              <a:gd name="adj" fmla="val 4862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8850" y="2275880"/>
            <a:ext cx="304800" cy="3810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</p:sp>
      <p:sp>
        <p:nvSpPr>
          <p:cNvPr id="7" name="Text 4"/>
          <p:cNvSpPr/>
          <p:nvPr/>
        </p:nvSpPr>
        <p:spPr>
          <a:xfrm>
            <a:off x="958850" y="2364780"/>
            <a:ext cx="2321877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Hora efetivamente prestada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58850" y="2811661"/>
            <a:ext cx="232187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Valor-hora por perfil; vedado o preço global por posto.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89325" y="2133005"/>
            <a:ext cx="2540000" cy="1501874"/>
          </a:xfrm>
          <a:prstGeom prst="roundRect">
            <a:avLst>
              <a:gd name="adj" fmla="val 4862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32200" y="2275880"/>
            <a:ext cx="304800" cy="3810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</p:sp>
      <p:sp>
        <p:nvSpPr>
          <p:cNvPr id="11" name="Text 8"/>
          <p:cNvSpPr/>
          <p:nvPr/>
        </p:nvSpPr>
        <p:spPr>
          <a:xfrm>
            <a:off x="3632200" y="2364780"/>
            <a:ext cx="2321877" cy="366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1133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Plataforma de gestão auditável</a:t>
            </a:r>
            <a:endParaRPr lang="en-US" sz="1133" dirty="0"/>
          </a:p>
        </p:txBody>
      </p:sp>
      <p:sp>
        <p:nvSpPr>
          <p:cNvPr id="12" name="Text 9"/>
          <p:cNvSpPr/>
          <p:nvPr/>
        </p:nvSpPr>
        <p:spPr>
          <a:xfrm>
            <a:off x="3632200" y="2756793"/>
            <a:ext cx="2321877" cy="760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4"/>
              </a:lnSpc>
              <a:buNone/>
            </a:pPr>
            <a:r>
              <a:rPr lang="en-US" sz="111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eletrônico de jornada, trilha imutável, conciliação automática e leitura pela ARTESP.</a:t>
            </a:r>
            <a:endParaRPr lang="en-US" sz="1110" dirty="0"/>
          </a:p>
        </p:txBody>
      </p:sp>
      <p:sp>
        <p:nvSpPr>
          <p:cNvPr id="13" name="Shape 10"/>
          <p:cNvSpPr/>
          <p:nvPr/>
        </p:nvSpPr>
        <p:spPr>
          <a:xfrm>
            <a:off x="6162675" y="2133005"/>
            <a:ext cx="2540000" cy="1501874"/>
          </a:xfrm>
          <a:prstGeom prst="roundRect">
            <a:avLst>
              <a:gd name="adj" fmla="val 4862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05550" y="2275880"/>
            <a:ext cx="304800" cy="3810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</p:sp>
      <p:sp>
        <p:nvSpPr>
          <p:cNvPr id="15" name="Text 12"/>
          <p:cNvSpPr/>
          <p:nvPr/>
        </p:nvSpPr>
        <p:spPr>
          <a:xfrm>
            <a:off x="6305550" y="2364780"/>
            <a:ext cx="2321877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Glosa objetiva com rito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05550" y="2613620"/>
            <a:ext cx="2321877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Gatilhos definidos, fórmula proporcional, contraditório e decisão formal antes do ateste.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36025" y="2133005"/>
            <a:ext cx="2540000" cy="1501874"/>
          </a:xfrm>
          <a:prstGeom prst="roundRect">
            <a:avLst>
              <a:gd name="adj" fmla="val 4862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78900" y="2275880"/>
            <a:ext cx="304800" cy="3810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</p:sp>
      <p:sp>
        <p:nvSpPr>
          <p:cNvPr id="19" name="Text 16"/>
          <p:cNvSpPr/>
          <p:nvPr/>
        </p:nvSpPr>
        <p:spPr>
          <a:xfrm>
            <a:off x="8978900" y="2364780"/>
            <a:ext cx="2321877" cy="366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1133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Prova de conceito eliminatória</a:t>
            </a:r>
            <a:endParaRPr lang="en-US" sz="1133" dirty="0"/>
          </a:p>
        </p:txBody>
      </p:sp>
      <p:sp>
        <p:nvSpPr>
          <p:cNvPr id="20" name="Text 17"/>
          <p:cNvSpPr/>
          <p:nvPr/>
        </p:nvSpPr>
        <p:spPr>
          <a:xfrm>
            <a:off x="8978900" y="2756793"/>
            <a:ext cx="2321877" cy="760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43"/>
              </a:lnSpc>
              <a:buNone/>
            </a:pPr>
            <a:r>
              <a:rPr lang="en-US" sz="1174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 de conformidade da plataforma, com roteiro público; a reprovação desclassifica.</a:t>
            </a:r>
            <a:endParaRPr lang="en-US" sz="1174" dirty="0"/>
          </a:p>
        </p:txBody>
      </p:sp>
      <p:sp>
        <p:nvSpPr>
          <p:cNvPr id="21" name="Shape 18"/>
          <p:cNvSpPr/>
          <p:nvPr/>
        </p:nvSpPr>
        <p:spPr>
          <a:xfrm>
            <a:off x="815975" y="3768229"/>
            <a:ext cx="2540000" cy="1501973"/>
          </a:xfrm>
          <a:prstGeom prst="roundRect">
            <a:avLst>
              <a:gd name="adj" fmla="val 4862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58850" y="3911104"/>
            <a:ext cx="304800" cy="3810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/>
        </p:spPr>
      </p:sp>
      <p:sp>
        <p:nvSpPr>
          <p:cNvPr id="23" name="Text 20"/>
          <p:cNvSpPr/>
          <p:nvPr/>
        </p:nvSpPr>
        <p:spPr>
          <a:xfrm>
            <a:off x="958850" y="4000004"/>
            <a:ext cx="2321877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Equipe 24×7 com gestão de fadiga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58850" y="4446885"/>
            <a:ext cx="2321877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Operação em 12×36, reserva técnica não faturável e sala de controle conforme ISO 11064.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489325" y="3768229"/>
            <a:ext cx="2540000" cy="1501973"/>
          </a:xfrm>
          <a:prstGeom prst="roundRect">
            <a:avLst>
              <a:gd name="adj" fmla="val 4862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632200" y="3911104"/>
            <a:ext cx="304800" cy="3810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/>
        </p:spPr>
      </p:sp>
      <p:sp>
        <p:nvSpPr>
          <p:cNvPr id="27" name="Text 24"/>
          <p:cNvSpPr/>
          <p:nvPr/>
        </p:nvSpPr>
        <p:spPr>
          <a:xfrm>
            <a:off x="3632200" y="4000004"/>
            <a:ext cx="239395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219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Perfis com níveis de serviço</a:t>
            </a:r>
            <a:endParaRPr lang="en-US" sz="1219" dirty="0"/>
          </a:p>
        </p:txBody>
      </p:sp>
      <p:sp>
        <p:nvSpPr>
          <p:cNvPr id="28" name="Text 25"/>
          <p:cNvSpPr/>
          <p:nvPr/>
        </p:nvSpPr>
        <p:spPr>
          <a:xfrm>
            <a:off x="3632200" y="4392116"/>
            <a:ext cx="2321877" cy="760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039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Cinco perfis com formação, conhecimentos obrigatórios em BI, SQL, Python e GIS, e SLOs próprios.</a:t>
            </a:r>
            <a:endParaRPr lang="en-US" sz="1039" dirty="0"/>
          </a:p>
        </p:txBody>
      </p:sp>
      <p:sp>
        <p:nvSpPr>
          <p:cNvPr id="29" name="Shape 26"/>
          <p:cNvSpPr/>
          <p:nvPr/>
        </p:nvSpPr>
        <p:spPr>
          <a:xfrm>
            <a:off x="6162675" y="3768229"/>
            <a:ext cx="2540000" cy="1501973"/>
          </a:xfrm>
          <a:prstGeom prst="roundRect">
            <a:avLst>
              <a:gd name="adj" fmla="val 4862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305550" y="3911104"/>
            <a:ext cx="304800" cy="3810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/>
        </p:spPr>
      </p:sp>
      <p:sp>
        <p:nvSpPr>
          <p:cNvPr id="31" name="Text 28"/>
          <p:cNvSpPr/>
          <p:nvPr/>
        </p:nvSpPr>
        <p:spPr>
          <a:xfrm>
            <a:off x="6305550" y="4000004"/>
            <a:ext cx="239395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58"/>
              </a:lnSpc>
              <a:buNone/>
            </a:pPr>
            <a:r>
              <a:rPr lang="en-US" sz="1215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Procedimentos versionados</a:t>
            </a:r>
            <a:endParaRPr lang="en-US" sz="1215" dirty="0"/>
          </a:p>
        </p:txBody>
      </p:sp>
      <p:sp>
        <p:nvSpPr>
          <p:cNvPr id="32" name="Text 29"/>
          <p:cNvSpPr/>
          <p:nvPr/>
        </p:nvSpPr>
        <p:spPr>
          <a:xfrm>
            <a:off x="6305550" y="4392116"/>
            <a:ext cx="2321877" cy="760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039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com matriz de responsabilidades e catálogo de doze procedimentos operacionais padrão.</a:t>
            </a:r>
            <a:endParaRPr lang="en-US" sz="1039" dirty="0"/>
          </a:p>
        </p:txBody>
      </p:sp>
      <p:sp>
        <p:nvSpPr>
          <p:cNvPr id="33" name="Shape 30"/>
          <p:cNvSpPr/>
          <p:nvPr/>
        </p:nvSpPr>
        <p:spPr>
          <a:xfrm>
            <a:off x="8836025" y="3768229"/>
            <a:ext cx="2540000" cy="1501973"/>
          </a:xfrm>
          <a:prstGeom prst="roundRect">
            <a:avLst>
              <a:gd name="adj" fmla="val 4862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978900" y="3911104"/>
            <a:ext cx="304800" cy="3810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/>
        </p:spPr>
      </p:sp>
      <p:sp>
        <p:nvSpPr>
          <p:cNvPr id="35" name="Text 32"/>
          <p:cNvSpPr/>
          <p:nvPr/>
        </p:nvSpPr>
        <p:spPr>
          <a:xfrm>
            <a:off x="8978900" y="4000004"/>
            <a:ext cx="2321877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Indicadores mensuráveis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8978900" y="4248845"/>
            <a:ext cx="2321877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nível de serviço vinculado a indicador com fonte, fórmula e periodicidade, com alertas automáticos.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12800" y="5425777"/>
            <a:ext cx="11379200" cy="441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43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Cinco analistas de dados contratados.</a:t>
            </a:r>
            <a:r>
              <a:rPr lang="en-US" sz="1243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proponente elaborou o termo de referência e participou </a:t>
            </a:r>
            <a:r>
              <a:rPr lang="en-US" sz="1243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apenas</a:t>
            </a:r>
            <a:r>
              <a:rPr lang="en-US" sz="1243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 análise de dois currículos.</a:t>
            </a:r>
            <a:endParaRPr lang="en-US" sz="1243" dirty="0"/>
          </a:p>
        </p:txBody>
      </p:sp>
      <p:sp>
        <p:nvSpPr>
          <p:cNvPr id="38" name="Text 3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Elaboração: proponente · Condução da contratação: gestores do CCM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ARTESP">    </p:cNvPr>
          <p:cNvPicPr>
            <a:picLocks noChangeAspect="1"/>
          </p:cNvPicPr>
          <p:nvPr/>
        </p:nvPicPr>
        <p:blipFill>
          <a:blip r:embed="rId2"/>
          <a:srcRect l="0" r="0" t="-140" b="-140"/>
          <a:stretch/>
        </p:blipFill>
        <p:spPr>
          <a:xfrm>
            <a:off x="10369550" y="812800"/>
            <a:ext cx="1009650" cy="279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66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 01 · APOIO OPERACIONAL EM NÚMEROS</a:t>
            </a:r>
            <a:endParaRPr lang="en-US" sz="1200" dirty="0"/>
          </a:p>
        </p:txBody>
      </p:sp>
      <p:sp>
        <p:nvSpPr>
          <p:cNvPr id="5" name="Text 1"/>
          <p:cNvSpPr/>
          <p:nvPr>
            <p:ph type="title"/>
          </p:nvPr>
        </p:nvSpPr>
        <p:spPr>
          <a:xfrm>
            <a:off x="812800" y="1178520"/>
            <a:ext cx="9156700" cy="480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Operação contínua, medida e verificável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815975" y="1789212"/>
            <a:ext cx="3414117" cy="1611511"/>
          </a:xfrm>
          <a:prstGeom prst="roundRect">
            <a:avLst>
              <a:gd name="adj" fmla="val 4531"/>
            </a:avLst>
          </a:prstGeom>
          <a:solidFill>
            <a:srgbClr val="1F1F1F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22350" y="1970187"/>
            <a:ext cx="309140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1022350" y="2579787"/>
            <a:ext cx="3091408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profissionais: supervisão operacional e de dados, analistas, operadores 24×7 e apoio administrativo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388842" y="1789212"/>
            <a:ext cx="3414216" cy="1611511"/>
          </a:xfrm>
          <a:prstGeom prst="roundRect">
            <a:avLst>
              <a:gd name="adj" fmla="val 4531"/>
            </a:avLst>
          </a:prstGeom>
          <a:solidFill>
            <a:srgbClr val="1F1F1F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95217" y="1970187"/>
            <a:ext cx="309151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FF66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≥ 99%</a:t>
            </a:r>
            <a:endParaRPr lang="en-US" sz="4400" dirty="0"/>
          </a:p>
        </p:txBody>
      </p:sp>
      <p:sp>
        <p:nvSpPr>
          <p:cNvPr id="11" name="Text 7"/>
          <p:cNvSpPr/>
          <p:nvPr/>
        </p:nvSpPr>
        <p:spPr>
          <a:xfrm>
            <a:off x="4595217" y="2579787"/>
            <a:ext cx="30915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cobertura dos postos; recomposição de posto descoberto em até 3 horas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61809" y="1789212"/>
            <a:ext cx="3414216" cy="1611511"/>
          </a:xfrm>
          <a:prstGeom prst="roundRect">
            <a:avLst>
              <a:gd name="adj" fmla="val 4531"/>
            </a:avLst>
          </a:prstGeom>
          <a:solidFill>
            <a:srgbClr val="1F1F1F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168184" y="1970187"/>
            <a:ext cx="309151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min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8168184" y="2579787"/>
            <a:ext cx="30915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comunicação de incidente crítico; abertura de registro em até 5 minutos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5975" y="3559473"/>
            <a:ext cx="3414117" cy="1611511"/>
          </a:xfrm>
          <a:prstGeom prst="roundRect">
            <a:avLst>
              <a:gd name="adj" fmla="val 4531"/>
            </a:avLst>
          </a:prstGeom>
          <a:solidFill>
            <a:srgbClr val="1F1F1F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22350" y="3740448"/>
            <a:ext cx="309140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4400" dirty="0"/>
          </a:p>
        </p:txBody>
      </p:sp>
      <p:sp>
        <p:nvSpPr>
          <p:cNvPr id="17" name="Text 13"/>
          <p:cNvSpPr/>
          <p:nvPr/>
        </p:nvSpPr>
        <p:spPr>
          <a:xfrm>
            <a:off x="1022350" y="4350048"/>
            <a:ext cx="3091408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procedimentos operacionais padrão catalogados, oito obrigatórios até o 15º dia, revisão trimestral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388842" y="3559473"/>
            <a:ext cx="3414216" cy="1611511"/>
          </a:xfrm>
          <a:prstGeom prst="roundRect">
            <a:avLst>
              <a:gd name="adj" fmla="val 4531"/>
            </a:avLst>
          </a:prstGeom>
          <a:solidFill>
            <a:srgbClr val="1F1F1F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95217" y="3740448"/>
            <a:ext cx="309151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FF66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≥ 99,5%</a:t>
            </a:r>
            <a:endParaRPr lang="en-US" sz="4400" dirty="0"/>
          </a:p>
        </p:txBody>
      </p:sp>
      <p:sp>
        <p:nvSpPr>
          <p:cNvPr id="20" name="Text 16"/>
          <p:cNvSpPr/>
          <p:nvPr/>
        </p:nvSpPr>
        <p:spPr>
          <a:xfrm>
            <a:off x="4595217" y="4350048"/>
            <a:ext cx="30915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disponibilidade mensal exigida da plataforma de gestão de serviços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7961809" y="3559473"/>
            <a:ext cx="3414216" cy="1611511"/>
          </a:xfrm>
          <a:prstGeom prst="roundRect">
            <a:avLst>
              <a:gd name="adj" fmla="val 4531"/>
            </a:avLst>
          </a:prstGeom>
          <a:solidFill>
            <a:srgbClr val="1F1F1F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168184" y="3740448"/>
            <a:ext cx="309151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 h</a:t>
            </a:r>
            <a:endParaRPr lang="en-US" sz="4400" dirty="0"/>
          </a:p>
        </p:txBody>
      </p:sp>
      <p:sp>
        <p:nvSpPr>
          <p:cNvPr id="23" name="Text 19"/>
          <p:cNvSpPr/>
          <p:nvPr/>
        </p:nvSpPr>
        <p:spPr>
          <a:xfrm>
            <a:off x="8168184" y="4350048"/>
            <a:ext cx="309151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notificação de incidente com dados pessoais; portabilidade integral ao encerramento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12800" y="5326559"/>
            <a:ext cx="104648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Pagamento condicionado ao cruzamento entre registro eletrônico, escala aprovada e evidências — sem remuneração por disponibilidade não verificável.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Valores do termo de referência elaborado · a execução contratada pode ter dimensionamento distinto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ESP">    </p:cNvPr>
          <p:cNvPicPr>
            <a:picLocks noChangeAspect="1"/>
          </p:cNvPicPr>
          <p:nvPr/>
        </p:nvPicPr>
        <p:blipFill>
          <a:blip r:embed="rId1"/>
          <a:srcRect l="0" r="0" t="-140" b="-140"/>
          <a:stretch/>
        </p:blipFill>
        <p:spPr>
          <a:xfrm>
            <a:off x="10369550" y="812800"/>
            <a:ext cx="1009650" cy="279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07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spc="150" kern="0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 02 · CONCLUÍDO · NÃO AVANÇOU, EM FAVOR DA PLATAFORMA MULTIMODAL</a:t>
            </a:r>
            <a:endParaRPr lang="en-US" sz="105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121966"/>
            <a:ext cx="9156700" cy="8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58"/>
              </a:lnSpc>
              <a:buNone/>
            </a:pPr>
            <a:r>
              <a:rPr lang="en-US" sz="2730" b="1" i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Reformulação do MITS: dados governados e verificáveis</a:t>
            </a:r>
            <a:endParaRPr lang="en-US" sz="2730" dirty="0"/>
          </a:p>
        </p:txBody>
      </p:sp>
      <p:sp>
        <p:nvSpPr>
          <p:cNvPr id="5" name="Shape 2"/>
          <p:cNvSpPr/>
          <p:nvPr/>
        </p:nvSpPr>
        <p:spPr>
          <a:xfrm>
            <a:off x="815975" y="2029321"/>
            <a:ext cx="2540000" cy="1335286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8850" y="2172196"/>
            <a:ext cx="304800" cy="3810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</p:sp>
      <p:sp>
        <p:nvSpPr>
          <p:cNvPr id="7" name="Text 4"/>
          <p:cNvSpPr/>
          <p:nvPr/>
        </p:nvSpPr>
        <p:spPr>
          <a:xfrm>
            <a:off x="958850" y="2261096"/>
            <a:ext cx="2321877" cy="3138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36"/>
              </a:lnSpc>
              <a:buNone/>
            </a:pPr>
            <a:r>
              <a:rPr lang="en-US" sz="947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Legado documentado antes da transição</a:t>
            </a:r>
            <a:endParaRPr lang="en-US" sz="947" dirty="0"/>
          </a:p>
        </p:txBody>
      </p:sp>
      <p:sp>
        <p:nvSpPr>
          <p:cNvPr id="8" name="Text 5"/>
          <p:cNvSpPr/>
          <p:nvPr/>
        </p:nvSpPr>
        <p:spPr>
          <a:xfrm>
            <a:off x="958850" y="2600325"/>
            <a:ext cx="2321877" cy="646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7"/>
              </a:lnSpc>
              <a:buNone/>
            </a:pPr>
            <a:r>
              <a:rPr lang="en-US" sz="1155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Arquitetura, dicionário, linhagem e manuais aceitos pela ARTESP antes de qualquer migração.</a:t>
            </a:r>
            <a:endParaRPr lang="en-US" sz="1155" dirty="0"/>
          </a:p>
        </p:txBody>
      </p:sp>
      <p:sp>
        <p:nvSpPr>
          <p:cNvPr id="9" name="Shape 6"/>
          <p:cNvSpPr/>
          <p:nvPr/>
        </p:nvSpPr>
        <p:spPr>
          <a:xfrm>
            <a:off x="3489325" y="2029321"/>
            <a:ext cx="2540000" cy="1335286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32200" y="2172196"/>
            <a:ext cx="304800" cy="3810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</p:sp>
      <p:sp>
        <p:nvSpPr>
          <p:cNvPr id="11" name="Text 8"/>
          <p:cNvSpPr/>
          <p:nvPr/>
        </p:nvSpPr>
        <p:spPr>
          <a:xfrm>
            <a:off x="3632200" y="2261096"/>
            <a:ext cx="2393950" cy="3138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33"/>
              </a:lnSpc>
              <a:buNone/>
            </a:pPr>
            <a:r>
              <a:rPr lang="en-US" sz="1028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Eventos com contratos validados</a:t>
            </a:r>
            <a:endParaRPr lang="en-US" sz="1028" dirty="0"/>
          </a:p>
        </p:txBody>
      </p:sp>
      <p:sp>
        <p:nvSpPr>
          <p:cNvPr id="12" name="Text 9"/>
          <p:cNvSpPr/>
          <p:nvPr/>
        </p:nvSpPr>
        <p:spPr>
          <a:xfrm>
            <a:off x="3632200" y="2600325"/>
            <a:ext cx="2321877" cy="646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039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de esquemas; mensagens fora do padrão rejeitadas na entrada; idempotência e correlação.</a:t>
            </a:r>
            <a:endParaRPr lang="en-US" sz="1039" dirty="0"/>
          </a:p>
        </p:txBody>
      </p:sp>
      <p:sp>
        <p:nvSpPr>
          <p:cNvPr id="13" name="Shape 10"/>
          <p:cNvSpPr/>
          <p:nvPr/>
        </p:nvSpPr>
        <p:spPr>
          <a:xfrm>
            <a:off x="6162675" y="2029321"/>
            <a:ext cx="2540000" cy="1335286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05550" y="2172196"/>
            <a:ext cx="304800" cy="3810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</p:sp>
      <p:sp>
        <p:nvSpPr>
          <p:cNvPr id="15" name="Text 12"/>
          <p:cNvSpPr/>
          <p:nvPr/>
        </p:nvSpPr>
        <p:spPr>
          <a:xfrm>
            <a:off x="6305550" y="2261096"/>
            <a:ext cx="2321877" cy="196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46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Quarentena e taxonomia</a:t>
            </a:r>
            <a:endParaRPr lang="en-US" sz="1146" dirty="0"/>
          </a:p>
        </p:txBody>
      </p:sp>
      <p:sp>
        <p:nvSpPr>
          <p:cNvPr id="16" name="Text 13"/>
          <p:cNvSpPr/>
          <p:nvPr/>
        </p:nvSpPr>
        <p:spPr>
          <a:xfrm>
            <a:off x="6305550" y="2483247"/>
            <a:ext cx="2321877" cy="763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 de chaves na ingestão, quarentena de registros inválidos e classificação padronizada.</a:t>
            </a:r>
            <a:endParaRPr lang="en-US" sz="1125" dirty="0"/>
          </a:p>
        </p:txBody>
      </p:sp>
      <p:sp>
        <p:nvSpPr>
          <p:cNvPr id="17" name="Shape 14"/>
          <p:cNvSpPr/>
          <p:nvPr/>
        </p:nvSpPr>
        <p:spPr>
          <a:xfrm>
            <a:off x="8836025" y="2029321"/>
            <a:ext cx="2540000" cy="1335286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78900" y="2172196"/>
            <a:ext cx="304800" cy="3810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</p:sp>
      <p:sp>
        <p:nvSpPr>
          <p:cNvPr id="19" name="Text 16"/>
          <p:cNvSpPr/>
          <p:nvPr/>
        </p:nvSpPr>
        <p:spPr>
          <a:xfrm>
            <a:off x="8978900" y="2261096"/>
            <a:ext cx="2393950" cy="3138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963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Camadas bruto, tratado e consumo</a:t>
            </a:r>
            <a:endParaRPr lang="en-US" sz="963" dirty="0"/>
          </a:p>
        </p:txBody>
      </p:sp>
      <p:sp>
        <p:nvSpPr>
          <p:cNvPr id="20" name="Text 17"/>
          <p:cNvSpPr/>
          <p:nvPr/>
        </p:nvSpPr>
        <p:spPr>
          <a:xfrm>
            <a:off x="8978900" y="2600325"/>
            <a:ext cx="2321877" cy="646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91"/>
              </a:lnSpc>
              <a:buNone/>
            </a:pPr>
            <a:r>
              <a:rPr lang="en-US" sz="1136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 bruto imutável, catálogo com inventário automático, linhagem e glossário de negócio.</a:t>
            </a:r>
            <a:endParaRPr lang="en-US" sz="1136" dirty="0"/>
          </a:p>
        </p:txBody>
      </p:sp>
      <p:sp>
        <p:nvSpPr>
          <p:cNvPr id="21" name="Shape 18"/>
          <p:cNvSpPr/>
          <p:nvPr/>
        </p:nvSpPr>
        <p:spPr>
          <a:xfrm>
            <a:off x="815975" y="3497957"/>
            <a:ext cx="2540000" cy="1335286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58850" y="3640832"/>
            <a:ext cx="304800" cy="3810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/>
        </p:spPr>
      </p:sp>
      <p:sp>
        <p:nvSpPr>
          <p:cNvPr id="23" name="Text 20"/>
          <p:cNvSpPr/>
          <p:nvPr/>
        </p:nvSpPr>
        <p:spPr>
          <a:xfrm>
            <a:off x="958850" y="3729732"/>
            <a:ext cx="2321877" cy="196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46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Reconciliação diária</a:t>
            </a:r>
            <a:endParaRPr lang="en-US" sz="1146" dirty="0"/>
          </a:p>
        </p:txBody>
      </p:sp>
      <p:sp>
        <p:nvSpPr>
          <p:cNvPr id="24" name="Text 21"/>
          <p:cNvSpPr/>
          <p:nvPr/>
        </p:nvSpPr>
        <p:spPr>
          <a:xfrm>
            <a:off x="958850" y="3951883"/>
            <a:ext cx="2321877" cy="763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54"/>
              </a:lnSpc>
              <a:buNone/>
            </a:pPr>
            <a:r>
              <a:rPr lang="en-US" sz="1039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Origem contra destino, automatizada, para os domínios críticos; divergência admitida de até 0,1%.</a:t>
            </a:r>
            <a:endParaRPr lang="en-US" sz="1039" dirty="0"/>
          </a:p>
        </p:txBody>
      </p:sp>
      <p:sp>
        <p:nvSpPr>
          <p:cNvPr id="25" name="Shape 22"/>
          <p:cNvSpPr/>
          <p:nvPr/>
        </p:nvSpPr>
        <p:spPr>
          <a:xfrm>
            <a:off x="3489325" y="3497957"/>
            <a:ext cx="2540000" cy="1335286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632200" y="3640832"/>
            <a:ext cx="304800" cy="3810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/>
        </p:spPr>
      </p:sp>
      <p:sp>
        <p:nvSpPr>
          <p:cNvPr id="27" name="Text 24"/>
          <p:cNvSpPr/>
          <p:nvPr/>
        </p:nvSpPr>
        <p:spPr>
          <a:xfrm>
            <a:off x="3632200" y="3729732"/>
            <a:ext cx="239395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92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Auditoria presencial anual</a:t>
            </a:r>
            <a:endParaRPr lang="en-US" sz="1292" dirty="0"/>
          </a:p>
        </p:txBody>
      </p:sp>
      <p:sp>
        <p:nvSpPr>
          <p:cNvPr id="28" name="Text 25"/>
          <p:cNvSpPr/>
          <p:nvPr/>
        </p:nvSpPr>
        <p:spPr>
          <a:xfrm>
            <a:off x="3632200" y="4128393"/>
            <a:ext cx="2321877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65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todas as concessionárias, com repositório de evidências retido por cinco anos.</a:t>
            </a:r>
            <a:endParaRPr lang="en-US" sz="1065" dirty="0"/>
          </a:p>
        </p:txBody>
      </p:sp>
      <p:sp>
        <p:nvSpPr>
          <p:cNvPr id="29" name="Shape 26"/>
          <p:cNvSpPr/>
          <p:nvPr/>
        </p:nvSpPr>
        <p:spPr>
          <a:xfrm>
            <a:off x="6162675" y="3497957"/>
            <a:ext cx="2540000" cy="1335286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305550" y="3640832"/>
            <a:ext cx="304800" cy="3810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/>
        </p:spPr>
      </p:sp>
      <p:sp>
        <p:nvSpPr>
          <p:cNvPr id="31" name="Text 28"/>
          <p:cNvSpPr/>
          <p:nvPr/>
        </p:nvSpPr>
        <p:spPr>
          <a:xfrm>
            <a:off x="6305550" y="3729732"/>
            <a:ext cx="2321877" cy="196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46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Soberania e portabilidade</a:t>
            </a:r>
            <a:endParaRPr lang="en-US" sz="1146" dirty="0"/>
          </a:p>
        </p:txBody>
      </p:sp>
      <p:sp>
        <p:nvSpPr>
          <p:cNvPr id="32" name="Text 29"/>
          <p:cNvSpPr/>
          <p:nvPr/>
        </p:nvSpPr>
        <p:spPr>
          <a:xfrm>
            <a:off x="6305550" y="3951883"/>
            <a:ext cx="2321877" cy="763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129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Chaves sob custódia da ARTESP, formatos abertos e simulação anual de reversibilidade.</a:t>
            </a:r>
            <a:endParaRPr lang="en-US" sz="1129" dirty="0"/>
          </a:p>
        </p:txBody>
      </p:sp>
      <p:sp>
        <p:nvSpPr>
          <p:cNvPr id="33" name="Shape 30"/>
          <p:cNvSpPr/>
          <p:nvPr/>
        </p:nvSpPr>
        <p:spPr>
          <a:xfrm>
            <a:off x="8836025" y="3497957"/>
            <a:ext cx="2540000" cy="1335286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978900" y="3640832"/>
            <a:ext cx="304800" cy="3810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/>
        </p:spPr>
      </p:sp>
      <p:sp>
        <p:nvSpPr>
          <p:cNvPr id="35" name="Text 32"/>
          <p:cNvSpPr/>
          <p:nvPr/>
        </p:nvSpPr>
        <p:spPr>
          <a:xfrm>
            <a:off x="8978900" y="3729732"/>
            <a:ext cx="2321877" cy="196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46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Pagamento por resultado</a:t>
            </a:r>
            <a:endParaRPr lang="en-US" sz="1146" dirty="0"/>
          </a:p>
        </p:txBody>
      </p:sp>
      <p:sp>
        <p:nvSpPr>
          <p:cNvPr id="36" name="Text 33"/>
          <p:cNvSpPr/>
          <p:nvPr/>
        </p:nvSpPr>
        <p:spPr>
          <a:xfrm>
            <a:off x="8978900" y="3951883"/>
            <a:ext cx="2321877" cy="763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65"/>
              </a:lnSpc>
              <a:buNone/>
            </a:pPr>
            <a:r>
              <a:rPr lang="en-US" sz="1046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Marcos verificáveis com portões de qualidade; vedada a remuneração por alocação de pessoal.</a:t>
            </a:r>
            <a:endParaRPr lang="en-US" sz="1046" dirty="0"/>
          </a:p>
        </p:txBody>
      </p:sp>
      <p:sp>
        <p:nvSpPr>
          <p:cNvPr id="37" name="Shape 34"/>
          <p:cNvSpPr/>
          <p:nvPr/>
        </p:nvSpPr>
        <p:spPr>
          <a:xfrm>
            <a:off x="812800" y="4963418"/>
            <a:ext cx="10566400" cy="878582"/>
          </a:xfrm>
          <a:prstGeom prst="roundRect">
            <a:avLst>
              <a:gd name="adj" fmla="val 8673"/>
            </a:avLst>
          </a:prstGeom>
          <a:solidFill>
            <a:srgbClr val="141414"/>
          </a:solidFill>
          <a:ln/>
        </p:spPr>
      </p:sp>
      <p:sp>
        <p:nvSpPr>
          <p:cNvPr id="38" name="Text 35"/>
          <p:cNvSpPr/>
          <p:nvPr/>
        </p:nvSpPr>
        <p:spPr>
          <a:xfrm>
            <a:off x="1019175" y="5093593"/>
            <a:ext cx="5282902" cy="321270"/>
          </a:xfrm>
          <a:prstGeom prst="roundRect">
            <a:avLst>
              <a:gd name="adj" fmla="val 14824"/>
            </a:avLst>
          </a:prstGeom>
          <a:noFill/>
          <a:ln w="6350">
            <a:solidFill>
              <a:srgbClr val="4A4A4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quatro eixos: legado · modernização · dados em nuvem · IA governada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384627" y="5093593"/>
            <a:ext cx="1671638" cy="321270"/>
          </a:xfrm>
          <a:prstGeom prst="roundRect">
            <a:avLst>
              <a:gd name="adj" fmla="val 14824"/>
            </a:avLst>
          </a:prstGeom>
          <a:noFill/>
          <a:ln w="6350">
            <a:solidFill>
              <a:srgbClr val="4A4A4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~1,25 bi de registros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8138815" y="5093593"/>
            <a:ext cx="1290042" cy="321270"/>
          </a:xfrm>
          <a:prstGeom prst="roundRect">
            <a:avLst>
              <a:gd name="adj" fmla="val 14824"/>
            </a:avLst>
          </a:prstGeom>
          <a:noFill/>
          <a:ln w="6350">
            <a:solidFill>
              <a:srgbClr val="4A4A4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4.500 câmeras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1019175" y="5497413"/>
            <a:ext cx="1771154" cy="321270"/>
          </a:xfrm>
          <a:prstGeom prst="roundRect">
            <a:avLst>
              <a:gd name="adj" fmla="val 14824"/>
            </a:avLst>
          </a:prstGeom>
          <a:noFill/>
          <a:ln w="6350">
            <a:solidFill>
              <a:srgbClr val="4A4A4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sistemas a integrar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2872879" y="5497413"/>
            <a:ext cx="915194" cy="321270"/>
          </a:xfrm>
          <a:prstGeom prst="roundRect">
            <a:avLst>
              <a:gd name="adj" fmla="val 14824"/>
            </a:avLst>
          </a:prstGeom>
          <a:noFill/>
          <a:ln w="6350">
            <a:solidFill>
              <a:srgbClr val="4A4A4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 meses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Escopo restrito ao domínio rodoviário · Elaboração: proponente · Condução: gestores do CCM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ESP">    </p:cNvPr>
          <p:cNvPicPr>
            <a:picLocks noChangeAspect="1"/>
          </p:cNvPicPr>
          <p:nvPr/>
        </p:nvPicPr>
        <p:blipFill>
          <a:blip r:embed="rId1"/>
          <a:srcRect l="0" r="0" t="-140" b="-140"/>
          <a:stretch/>
        </p:blipFill>
        <p:spPr>
          <a:xfrm>
            <a:off x="10369550" y="812800"/>
            <a:ext cx="1009650" cy="279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10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spc="150" kern="0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 03 · CONCLUÍDO · CONTRATAÇÃO NÃO INICIADA</a:t>
            </a:r>
            <a:endParaRPr lang="en-US" sz="105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124645"/>
            <a:ext cx="9156700" cy="814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02"/>
              </a:lnSpc>
              <a:buNone/>
            </a:pPr>
            <a:r>
              <a:rPr lang="en-US" sz="2770" b="1" i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Reforma do CCM: um centro de controle de vanguarda</a:t>
            </a:r>
            <a:endParaRPr lang="en-US" sz="2770" dirty="0"/>
          </a:p>
        </p:txBody>
      </p:sp>
      <p:sp>
        <p:nvSpPr>
          <p:cNvPr id="5" name="Shape 2"/>
          <p:cNvSpPr/>
          <p:nvPr/>
        </p:nvSpPr>
        <p:spPr>
          <a:xfrm>
            <a:off x="815975" y="2043807"/>
            <a:ext cx="2540000" cy="1455440"/>
          </a:xfrm>
          <a:prstGeom prst="roundRect">
            <a:avLst>
              <a:gd name="adj" fmla="val 5017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8850" y="2186682"/>
            <a:ext cx="304800" cy="3810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</p:sp>
      <p:sp>
        <p:nvSpPr>
          <p:cNvPr id="7" name="Text 4"/>
          <p:cNvSpPr/>
          <p:nvPr/>
        </p:nvSpPr>
        <p:spPr>
          <a:xfrm>
            <a:off x="958850" y="2275582"/>
            <a:ext cx="2321877" cy="163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934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Inteligência artificial local</a:t>
            </a:r>
            <a:endParaRPr lang="en-US" sz="934" dirty="0"/>
          </a:p>
        </p:txBody>
      </p:sp>
      <p:sp>
        <p:nvSpPr>
          <p:cNvPr id="8" name="Text 5"/>
          <p:cNvSpPr/>
          <p:nvPr/>
        </p:nvSpPr>
        <p:spPr>
          <a:xfrm>
            <a:off x="958850" y="2464395"/>
            <a:ext cx="2321877" cy="917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2"/>
              </a:lnSpc>
              <a:buNone/>
            </a:pPr>
            <a:r>
              <a:rPr lang="en-US" sz="1001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Comando por voz com modelo de linguagem processado na sede, sem nuvem pública, com salvaguardas em camadas e plano contra degradação do modelo.</a:t>
            </a:r>
            <a:endParaRPr lang="en-US" sz="1001" dirty="0"/>
          </a:p>
        </p:txBody>
      </p:sp>
      <p:sp>
        <p:nvSpPr>
          <p:cNvPr id="9" name="Shape 6"/>
          <p:cNvSpPr/>
          <p:nvPr/>
        </p:nvSpPr>
        <p:spPr>
          <a:xfrm>
            <a:off x="3489325" y="2043807"/>
            <a:ext cx="2540000" cy="1455440"/>
          </a:xfrm>
          <a:prstGeom prst="roundRect">
            <a:avLst>
              <a:gd name="adj" fmla="val 5017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32200" y="2186682"/>
            <a:ext cx="304800" cy="3810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</p:sp>
      <p:sp>
        <p:nvSpPr>
          <p:cNvPr id="11" name="Text 8"/>
          <p:cNvSpPr/>
          <p:nvPr/>
        </p:nvSpPr>
        <p:spPr>
          <a:xfrm>
            <a:off x="3632200" y="2275582"/>
            <a:ext cx="2321877" cy="186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2"/>
              </a:lnSpc>
              <a:buNone/>
            </a:pPr>
            <a:r>
              <a:rPr lang="en-US" sz="106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Videowall por rede</a:t>
            </a:r>
            <a:endParaRPr lang="en-US" sz="1060" dirty="0"/>
          </a:p>
        </p:txBody>
      </p:sp>
      <p:sp>
        <p:nvSpPr>
          <p:cNvPr id="12" name="Text 9"/>
          <p:cNvSpPr/>
          <p:nvPr/>
        </p:nvSpPr>
        <p:spPr>
          <a:xfrm>
            <a:off x="3632200" y="2487712"/>
            <a:ext cx="2321877" cy="8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151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Distribuição de vídeo sobre rede dedicada de 10 Gbps, painel LED contínuo e decodificação nativa de câmeras IP.</a:t>
            </a:r>
            <a:endParaRPr lang="en-US" sz="1151" dirty="0"/>
          </a:p>
        </p:txBody>
      </p:sp>
      <p:sp>
        <p:nvSpPr>
          <p:cNvPr id="13" name="Shape 10"/>
          <p:cNvSpPr/>
          <p:nvPr/>
        </p:nvSpPr>
        <p:spPr>
          <a:xfrm>
            <a:off x="6162675" y="2043807"/>
            <a:ext cx="2540000" cy="1455440"/>
          </a:xfrm>
          <a:prstGeom prst="roundRect">
            <a:avLst>
              <a:gd name="adj" fmla="val 5017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05550" y="2186682"/>
            <a:ext cx="304800" cy="3810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</p:sp>
      <p:sp>
        <p:nvSpPr>
          <p:cNvPr id="15" name="Text 12"/>
          <p:cNvSpPr/>
          <p:nvPr/>
        </p:nvSpPr>
        <p:spPr>
          <a:xfrm>
            <a:off x="6305550" y="2275582"/>
            <a:ext cx="2321877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Resiliência Tier III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05550" y="2520355"/>
            <a:ext cx="2321877" cy="861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4"/>
              </a:lnSpc>
              <a:buNone/>
            </a:pPr>
            <a:r>
              <a:rPr lang="en-US" sz="1181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Energia, climatização e rede redundantes, com caminhos físicos independentes e manutenção sem interrupção.</a:t>
            </a:r>
            <a:endParaRPr lang="en-US" sz="1181" dirty="0"/>
          </a:p>
        </p:txBody>
      </p:sp>
      <p:sp>
        <p:nvSpPr>
          <p:cNvPr id="17" name="Shape 14"/>
          <p:cNvSpPr/>
          <p:nvPr/>
        </p:nvSpPr>
        <p:spPr>
          <a:xfrm>
            <a:off x="8836025" y="2043807"/>
            <a:ext cx="2540000" cy="1455440"/>
          </a:xfrm>
          <a:prstGeom prst="roundRect">
            <a:avLst>
              <a:gd name="adj" fmla="val 5017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78900" y="2186682"/>
            <a:ext cx="304800" cy="3810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</p:sp>
      <p:sp>
        <p:nvSpPr>
          <p:cNvPr id="19" name="Text 16"/>
          <p:cNvSpPr/>
          <p:nvPr/>
        </p:nvSpPr>
        <p:spPr>
          <a:xfrm>
            <a:off x="8978900" y="2275582"/>
            <a:ext cx="2321877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Infraestrutura na sede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978900" y="2520355"/>
            <a:ext cx="2321877" cy="861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4"/>
              </a:lnSpc>
              <a:buNone/>
            </a:pPr>
            <a:r>
              <a:rPr lang="en-US" sz="1181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Computação, armazenamento e IA integralmente na ARTESP, por soberania, segurança e latência.</a:t>
            </a:r>
            <a:endParaRPr lang="en-US" sz="1181" dirty="0"/>
          </a:p>
        </p:txBody>
      </p:sp>
      <p:sp>
        <p:nvSpPr>
          <p:cNvPr id="21" name="Shape 18"/>
          <p:cNvSpPr/>
          <p:nvPr/>
        </p:nvSpPr>
        <p:spPr>
          <a:xfrm>
            <a:off x="815975" y="3632597"/>
            <a:ext cx="2540000" cy="1455440"/>
          </a:xfrm>
          <a:prstGeom prst="roundRect">
            <a:avLst>
              <a:gd name="adj" fmla="val 5017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58850" y="3775472"/>
            <a:ext cx="304800" cy="3810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/>
        </p:spPr>
      </p:sp>
      <p:sp>
        <p:nvSpPr>
          <p:cNvPr id="23" name="Text 20"/>
          <p:cNvSpPr/>
          <p:nvPr/>
        </p:nvSpPr>
        <p:spPr>
          <a:xfrm>
            <a:off x="958850" y="3864372"/>
            <a:ext cx="2321877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Projeto acústico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58850" y="4109145"/>
            <a:ext cx="2321877" cy="861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4"/>
              </a:lnSpc>
              <a:buNone/>
            </a:pPr>
            <a:r>
              <a:rPr lang="en-US" sz="1181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Ruído de fundo, reverberação e inteligibilidade com limites mandatórios, medidos em todos os postos.</a:t>
            </a:r>
            <a:endParaRPr lang="en-US" sz="1181" dirty="0"/>
          </a:p>
        </p:txBody>
      </p:sp>
      <p:sp>
        <p:nvSpPr>
          <p:cNvPr id="25" name="Shape 22"/>
          <p:cNvSpPr/>
          <p:nvPr/>
        </p:nvSpPr>
        <p:spPr>
          <a:xfrm>
            <a:off x="3489325" y="3632597"/>
            <a:ext cx="2540000" cy="1455440"/>
          </a:xfrm>
          <a:prstGeom prst="roundRect">
            <a:avLst>
              <a:gd name="adj" fmla="val 5017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632200" y="3775472"/>
            <a:ext cx="304800" cy="3810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/>
        </p:spPr>
      </p:sp>
      <p:sp>
        <p:nvSpPr>
          <p:cNvPr id="27" name="Text 24"/>
          <p:cNvSpPr/>
          <p:nvPr/>
        </p:nvSpPr>
        <p:spPr>
          <a:xfrm>
            <a:off x="3632200" y="3864372"/>
            <a:ext cx="2321877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Iluminação circadiana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632200" y="4109145"/>
            <a:ext cx="2321877" cy="861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4"/>
              </a:lnSpc>
              <a:buNone/>
            </a:pPr>
            <a:r>
              <a:rPr lang="en-US" sz="1181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Temperatura de cor variável ao longo das 24 horas, ofuscamento controlado e luz de tarefa por posto.</a:t>
            </a:r>
            <a:endParaRPr lang="en-US" sz="1181" dirty="0"/>
          </a:p>
        </p:txBody>
      </p:sp>
      <p:sp>
        <p:nvSpPr>
          <p:cNvPr id="29" name="Shape 26"/>
          <p:cNvSpPr/>
          <p:nvPr/>
        </p:nvSpPr>
        <p:spPr>
          <a:xfrm>
            <a:off x="6162675" y="3632597"/>
            <a:ext cx="2540000" cy="1455440"/>
          </a:xfrm>
          <a:prstGeom prst="roundRect">
            <a:avLst>
              <a:gd name="adj" fmla="val 5017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305550" y="3775472"/>
            <a:ext cx="304800" cy="3810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/>
        </p:spPr>
      </p:sp>
      <p:sp>
        <p:nvSpPr>
          <p:cNvPr id="31" name="Text 28"/>
          <p:cNvSpPr/>
          <p:nvPr/>
        </p:nvSpPr>
        <p:spPr>
          <a:xfrm>
            <a:off x="6305550" y="3864372"/>
            <a:ext cx="2321877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Fator humano ISO 11064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305550" y="4109145"/>
            <a:ext cx="2321877" cy="861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4"/>
              </a:lnSpc>
              <a:buNone/>
            </a:pPr>
            <a:r>
              <a:rPr lang="en-US" sz="1181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de tarefas, oficinas participativas, maquete em escala real e protótipo em realidade virtual antes da obra.</a:t>
            </a:r>
            <a:endParaRPr lang="en-US" sz="1181" dirty="0"/>
          </a:p>
        </p:txBody>
      </p:sp>
      <p:sp>
        <p:nvSpPr>
          <p:cNvPr id="33" name="Shape 30"/>
          <p:cNvSpPr/>
          <p:nvPr/>
        </p:nvSpPr>
        <p:spPr>
          <a:xfrm>
            <a:off x="8836025" y="3632597"/>
            <a:ext cx="2540000" cy="1455440"/>
          </a:xfrm>
          <a:prstGeom prst="roundRect">
            <a:avLst>
              <a:gd name="adj" fmla="val 5017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978900" y="3775472"/>
            <a:ext cx="304800" cy="3810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/>
        </p:spPr>
      </p:sp>
      <p:sp>
        <p:nvSpPr>
          <p:cNvPr id="35" name="Text 32"/>
          <p:cNvSpPr/>
          <p:nvPr/>
        </p:nvSpPr>
        <p:spPr>
          <a:xfrm>
            <a:off x="8978900" y="3864372"/>
            <a:ext cx="2321877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Ergonomia 24×7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8978900" y="4109145"/>
            <a:ext cx="2321877" cy="861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4"/>
              </a:lnSpc>
              <a:buNone/>
            </a:pPr>
            <a:r>
              <a:rPr lang="en-US" sz="1181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Consoles com ajuste elétrico, cadeiras certificadas para uso contínuo e área de descanso acusticamente isolada.</a:t>
            </a:r>
            <a:endParaRPr lang="en-US" sz="1181" dirty="0"/>
          </a:p>
        </p:txBody>
      </p:sp>
      <p:sp>
        <p:nvSpPr>
          <p:cNvPr id="37" name="Text 34"/>
          <p:cNvSpPr/>
          <p:nvPr/>
        </p:nvSpPr>
        <p:spPr>
          <a:xfrm>
            <a:off x="812800" y="5218212"/>
            <a:ext cx="10566400" cy="623788"/>
          </a:xfrm>
          <a:prstGeom prst="roundRect">
            <a:avLst>
              <a:gd name="adj" fmla="val 12216"/>
            </a:avLst>
          </a:prstGeom>
          <a:solidFill>
            <a:srgbClr val="141414"/>
          </a:solidFill>
          <a:ln/>
        </p:spPr>
        <p:txBody>
          <a:bodyPr wrap="square" lIns="180882" tIns="104682" rIns="0" bIns="79282" rtlCol="0" anchor="t">
            <a:normAutofit/>
          </a:bodyPr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104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Contratação integrada: projeto básico, projeto executivo e execução, entregues prontos para operação. O software multimodal é objeto distinto, integrado por APIs abertas documentadas no termo.</a:t>
            </a:r>
            <a:endParaRPr lang="en-US" sz="1043" dirty="0"/>
          </a:p>
        </p:txBody>
      </p:sp>
      <p:sp>
        <p:nvSpPr>
          <p:cNvPr id="38" name="Text 3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Elaboração: proponente · Condução: gestores do CCM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ARTESP">    </p:cNvPr>
          <p:cNvPicPr>
            <a:picLocks noChangeAspect="1"/>
          </p:cNvPicPr>
          <p:nvPr/>
        </p:nvPicPr>
        <p:blipFill>
          <a:blip r:embed="rId2"/>
          <a:srcRect l="0" r="0" t="-140" b="-140"/>
          <a:stretch/>
        </p:blipFill>
        <p:spPr>
          <a:xfrm>
            <a:off x="10369550" y="812800"/>
            <a:ext cx="1009650" cy="279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812800"/>
            <a:ext cx="10883392" cy="217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88" b="1" spc="150" kern="0" dirty="0">
                <a:solidFill>
                  <a:srgbClr val="FF66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 03 · O NOVO CCM EM NÚMEROS</a:t>
            </a:r>
            <a:endParaRPr lang="en-US" sz="1088" dirty="0"/>
          </a:p>
        </p:txBody>
      </p:sp>
      <p:sp>
        <p:nvSpPr>
          <p:cNvPr id="5" name="Text 1"/>
          <p:cNvSpPr/>
          <p:nvPr>
            <p:ph type="title"/>
          </p:nvPr>
        </p:nvSpPr>
        <p:spPr>
          <a:xfrm>
            <a:off x="812800" y="1157288"/>
            <a:ext cx="9156700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70"/>
              </a:lnSpc>
              <a:buNone/>
            </a:pPr>
            <a:r>
              <a:rPr lang="en-US" sz="292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Requisitos mensuráveis, não adjetivos</a:t>
            </a:r>
            <a:endParaRPr lang="en-US" sz="2920" dirty="0"/>
          </a:p>
        </p:txBody>
      </p:sp>
      <p:sp>
        <p:nvSpPr>
          <p:cNvPr id="6" name="Shape 2"/>
          <p:cNvSpPr/>
          <p:nvPr/>
        </p:nvSpPr>
        <p:spPr>
          <a:xfrm>
            <a:off x="815975" y="1722636"/>
            <a:ext cx="3414117" cy="1611511"/>
          </a:xfrm>
          <a:prstGeom prst="roundRect">
            <a:avLst>
              <a:gd name="adj" fmla="val 4531"/>
            </a:avLst>
          </a:prstGeom>
          <a:solidFill>
            <a:srgbClr val="1F1F1F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22350" y="1903611"/>
            <a:ext cx="309140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FF66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≤ 500 ms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1022350" y="2513211"/>
            <a:ext cx="3091408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latência ponta a ponta para comandos de voz em visualização crítica; critério eliminatório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388842" y="1722636"/>
            <a:ext cx="3414216" cy="1611511"/>
          </a:xfrm>
          <a:prstGeom prst="roundRect">
            <a:avLst>
              <a:gd name="adj" fmla="val 4531"/>
            </a:avLst>
          </a:prstGeom>
          <a:solidFill>
            <a:srgbClr val="1F1F1F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95217" y="1903611"/>
            <a:ext cx="309151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≤ 1,5 mm</a:t>
            </a:r>
            <a:endParaRPr lang="en-US" sz="4400" dirty="0"/>
          </a:p>
        </p:txBody>
      </p:sp>
      <p:sp>
        <p:nvSpPr>
          <p:cNvPr id="11" name="Text 7"/>
          <p:cNvSpPr/>
          <p:nvPr/>
        </p:nvSpPr>
        <p:spPr>
          <a:xfrm>
            <a:off x="4595217" y="2513211"/>
            <a:ext cx="309151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distância entre pixels no painel LED, resolução mínima de 7680 × 1080, operação contínua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61809" y="1722636"/>
            <a:ext cx="3414216" cy="1611511"/>
          </a:xfrm>
          <a:prstGeom prst="roundRect">
            <a:avLst>
              <a:gd name="adj" fmla="val 4531"/>
            </a:avLst>
          </a:prstGeom>
          <a:solidFill>
            <a:srgbClr val="1F1F1F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168184" y="1903611"/>
            <a:ext cx="309151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99,99%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8168184" y="2513211"/>
            <a:ext cx="309151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disponibilidade de energia e climatização; redundância N+1 mínima, 2N avaliada para sistemas vitais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5975" y="3492897"/>
            <a:ext cx="3414117" cy="1777405"/>
          </a:xfrm>
          <a:prstGeom prst="roundRect">
            <a:avLst>
              <a:gd name="adj" fmla="val 4109"/>
            </a:avLst>
          </a:prstGeom>
          <a:solidFill>
            <a:srgbClr val="1F1F1F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22350" y="3673872"/>
            <a:ext cx="3204567" cy="89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429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≤ 40 dB(A)</a:t>
            </a:r>
            <a:endParaRPr lang="en-US" sz="4290" dirty="0"/>
          </a:p>
        </p:txBody>
      </p:sp>
      <p:sp>
        <p:nvSpPr>
          <p:cNvPr id="17" name="Text 13"/>
          <p:cNvSpPr/>
          <p:nvPr/>
        </p:nvSpPr>
        <p:spPr>
          <a:xfrm>
            <a:off x="1022350" y="4592439"/>
            <a:ext cx="3091408" cy="522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016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ruído de fundo; reverberação de até 0,5 s e inteligibilidade mínima de 0,6 em todos os postos</a:t>
            </a:r>
            <a:endParaRPr lang="en-US" sz="1016" dirty="0"/>
          </a:p>
        </p:txBody>
      </p:sp>
      <p:sp>
        <p:nvSpPr>
          <p:cNvPr id="18" name="Shape 14"/>
          <p:cNvSpPr/>
          <p:nvPr/>
        </p:nvSpPr>
        <p:spPr>
          <a:xfrm>
            <a:off x="4388842" y="3492897"/>
            <a:ext cx="3414216" cy="1777405"/>
          </a:xfrm>
          <a:prstGeom prst="roundRect">
            <a:avLst>
              <a:gd name="adj" fmla="val 4109"/>
            </a:avLst>
          </a:prstGeom>
          <a:solidFill>
            <a:srgbClr val="1F1F1F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95217" y="3673872"/>
            <a:ext cx="309151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FF66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360 dias</a:t>
            </a:r>
            <a:endParaRPr lang="en-US" sz="4400" dirty="0"/>
          </a:p>
        </p:txBody>
      </p:sp>
      <p:sp>
        <p:nvSpPr>
          <p:cNvPr id="20" name="Text 16"/>
          <p:cNvSpPr/>
          <p:nvPr/>
        </p:nvSpPr>
        <p:spPr>
          <a:xfrm>
            <a:off x="4595217" y="4283472"/>
            <a:ext cx="309151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contrato: 210 de projeto e 150 de execução, em doze entregas, mais 90 dias de operação assistida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7961809" y="3492897"/>
            <a:ext cx="3414216" cy="1777405"/>
          </a:xfrm>
          <a:prstGeom prst="roundRect">
            <a:avLst>
              <a:gd name="adj" fmla="val 4109"/>
            </a:avLst>
          </a:prstGeom>
          <a:solidFill>
            <a:srgbClr val="1F1F1F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168184" y="3673872"/>
            <a:ext cx="309151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70 / 30</a:t>
            </a:r>
            <a:endParaRPr lang="en-US" sz="4400" dirty="0"/>
          </a:p>
        </p:txBody>
      </p:sp>
      <p:sp>
        <p:nvSpPr>
          <p:cNvPr id="23" name="Text 19"/>
          <p:cNvSpPr/>
          <p:nvPr/>
        </p:nvSpPr>
        <p:spPr>
          <a:xfrm>
            <a:off x="8168184" y="4283472"/>
            <a:ext cx="30915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técnica e preço no julgamento, com 40% da nota técnica atribuída à equipe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12800" y="5425877"/>
            <a:ext cx="10464800" cy="441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61"/>
              </a:lnSpc>
              <a:buNone/>
            </a:pPr>
            <a:r>
              <a:rPr lang="en-US" sz="118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Diagnóstico do termo: o CCI atual apresenta obsolescência sistêmica — tecnologia em fim de vida útil, foco unimodal e infraestrutura física desconforme com as normas de centros de controle.</a:t>
            </a:r>
            <a:endParaRPr lang="en-US" sz="1186" dirty="0"/>
          </a:p>
        </p:txBody>
      </p:sp>
      <p:sp>
        <p:nvSpPr>
          <p:cNvPr id="25" name="Text 2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Valores do termo de referência elaborado · Elaboração: proponente · Condução: gestores do CCM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ESP">    </p:cNvPr>
          <p:cNvPicPr>
            <a:picLocks noChangeAspect="1"/>
          </p:cNvPicPr>
          <p:nvPr/>
        </p:nvPicPr>
        <p:blipFill>
          <a:blip r:embed="rId1"/>
          <a:srcRect l="0" r="0" t="-140" b="-140"/>
          <a:stretch/>
        </p:blipFill>
        <p:spPr>
          <a:xfrm>
            <a:off x="10369550" y="812800"/>
            <a:ext cx="1009650" cy="279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PLATAFORMA MULTIMODAL · CAMADA DE DADOS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153120"/>
            <a:ext cx="9156700" cy="480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Prova de conceito já executável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15975" y="1738412"/>
            <a:ext cx="5175250" cy="1977231"/>
          </a:xfrm>
          <a:prstGeom prst="roundRect">
            <a:avLst>
              <a:gd name="adj" fmla="val 3693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22350" y="1919387"/>
            <a:ext cx="49053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demonstra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27506" y="2208907"/>
            <a:ext cx="4792599" cy="1351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8844" indent="-14884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Recepção contínua de eventos, com contratos de dados versionados e rejeição de mensagens fora do padrão.</a:t>
            </a:r>
            <a:endParaRPr lang="en-US" sz="1200" dirty="0"/>
          </a:p>
          <a:p>
            <a:pPr algn="l" marL="148844" indent="-14884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Consolidação em camadas: dado bruto preservado, dado estruturado por contrato e agregações analíticas.</a:t>
            </a:r>
            <a:endParaRPr lang="en-US" sz="1200" dirty="0"/>
          </a:p>
          <a:p>
            <a:pPr algn="l" marL="148844" indent="-14884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 distribuída e painéis sobre o mesmo repositório, sem cópia de dados.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00775" y="1738412"/>
            <a:ext cx="5175250" cy="1977231"/>
          </a:xfrm>
          <a:prstGeom prst="roundRect">
            <a:avLst>
              <a:gd name="adj" fmla="val 3693"/>
            </a:avLst>
          </a:prstGeom>
          <a:solidFill>
            <a:srgbClr val="FFFFFF"/>
          </a:solidFill>
          <a:ln w="6350">
            <a:solidFill>
              <a:srgbClr val="D32F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7150" y="1919387"/>
            <a:ext cx="49053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importa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12306" y="2208907"/>
            <a:ext cx="4792599" cy="1351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8844" indent="-14884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Reduz a incerteza da avaliação de viabilidade da camada de dados: o fluxo essencial já opera em ambiente controlado.</a:t>
            </a:r>
            <a:endParaRPr lang="en-US" sz="1200" dirty="0"/>
          </a:p>
          <a:p>
            <a:pPr algn="l" marL="148844" indent="-14884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Integralmente em software livre, no mesmo modelo das aplicações em produção.</a:t>
            </a:r>
            <a:endParaRPr lang="en-US" sz="1200" dirty="0"/>
          </a:p>
          <a:p>
            <a:pPr algn="l" marL="148844" indent="-14884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 de referência para o que o software multimodal contratado deverá consumir.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2800" y="3845818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FLUXO DEMONSTRADO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5975" y="4189313"/>
            <a:ext cx="1517650" cy="692150"/>
          </a:xfrm>
          <a:prstGeom prst="roundRect">
            <a:avLst>
              <a:gd name="adj" fmla="val 8716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5350" y="4309368"/>
            <a:ext cx="1358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Produtores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95350" y="4548088"/>
            <a:ext cx="1358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eventos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619375" y="4189313"/>
            <a:ext cx="1517650" cy="692150"/>
          </a:xfrm>
          <a:prstGeom prst="roundRect">
            <a:avLst>
              <a:gd name="adj" fmla="val 8716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98750" y="4294088"/>
            <a:ext cx="1358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23"/>
              </a:lnSpc>
              <a:buNone/>
            </a:pPr>
            <a:r>
              <a:rPr lang="en-US" sz="874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Barramento</a:t>
            </a:r>
            <a:endParaRPr lang="en-US" sz="874" dirty="0"/>
          </a:p>
        </p:txBody>
      </p:sp>
      <p:sp>
        <p:nvSpPr>
          <p:cNvPr id="17" name="Text 14"/>
          <p:cNvSpPr/>
          <p:nvPr/>
        </p:nvSpPr>
        <p:spPr>
          <a:xfrm>
            <a:off x="2667000" y="4471888"/>
            <a:ext cx="1422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70"/>
              </a:lnSpc>
              <a:buNone/>
            </a:pPr>
            <a:r>
              <a:rPr lang="en-US" sz="979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contratos versionados</a:t>
            </a:r>
            <a:endParaRPr lang="en-US" sz="979" dirty="0"/>
          </a:p>
        </p:txBody>
      </p:sp>
      <p:sp>
        <p:nvSpPr>
          <p:cNvPr id="18" name="Shape 15"/>
          <p:cNvSpPr/>
          <p:nvPr/>
        </p:nvSpPr>
        <p:spPr>
          <a:xfrm>
            <a:off x="4422775" y="4189313"/>
            <a:ext cx="1517650" cy="692150"/>
          </a:xfrm>
          <a:prstGeom prst="roundRect">
            <a:avLst>
              <a:gd name="adj" fmla="val 8716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02150" y="4294088"/>
            <a:ext cx="1358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23"/>
              </a:lnSpc>
              <a:buNone/>
            </a:pPr>
            <a:r>
              <a:rPr lang="en-US" sz="874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Processamento</a:t>
            </a:r>
            <a:endParaRPr lang="en-US" sz="874" dirty="0"/>
          </a:p>
        </p:txBody>
      </p:sp>
      <p:sp>
        <p:nvSpPr>
          <p:cNvPr id="20" name="Text 17"/>
          <p:cNvSpPr/>
          <p:nvPr/>
        </p:nvSpPr>
        <p:spPr>
          <a:xfrm>
            <a:off x="4470400" y="4471888"/>
            <a:ext cx="1422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22"/>
              </a:lnSpc>
              <a:buNone/>
            </a:pPr>
            <a:r>
              <a:rPr lang="en-US" sz="1159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 contínua</a:t>
            </a:r>
            <a:endParaRPr lang="en-US" sz="1159" dirty="0"/>
          </a:p>
        </p:txBody>
      </p:sp>
      <p:sp>
        <p:nvSpPr>
          <p:cNvPr id="21" name="Shape 18"/>
          <p:cNvSpPr/>
          <p:nvPr/>
        </p:nvSpPr>
        <p:spPr>
          <a:xfrm>
            <a:off x="6226175" y="4189313"/>
            <a:ext cx="1517650" cy="692150"/>
          </a:xfrm>
          <a:prstGeom prst="roundRect">
            <a:avLst>
              <a:gd name="adj" fmla="val 8716"/>
            </a:avLst>
          </a:prstGeom>
          <a:solidFill>
            <a:srgbClr val="FFFFFF"/>
          </a:solidFill>
          <a:ln w="6350">
            <a:solidFill>
              <a:srgbClr val="D32F2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05550" y="4294088"/>
            <a:ext cx="13589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8"/>
              </a:lnSpc>
              <a:buNone/>
            </a:pPr>
            <a:r>
              <a:rPr lang="en-US" sz="720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Repositório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6305550" y="4433788"/>
            <a:ext cx="13589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60"/>
              </a:lnSpc>
              <a:buNone/>
            </a:pPr>
            <a:r>
              <a:rPr lang="en-US" sz="971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bruto · estruturado · analítico</a:t>
            </a:r>
            <a:endParaRPr lang="en-US" sz="971" dirty="0"/>
          </a:p>
        </p:txBody>
      </p:sp>
      <p:sp>
        <p:nvSpPr>
          <p:cNvPr id="24" name="Shape 21"/>
          <p:cNvSpPr/>
          <p:nvPr/>
        </p:nvSpPr>
        <p:spPr>
          <a:xfrm>
            <a:off x="8029575" y="4189313"/>
            <a:ext cx="1517650" cy="692150"/>
          </a:xfrm>
          <a:prstGeom prst="roundRect">
            <a:avLst>
              <a:gd name="adj" fmla="val 8716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08950" y="4309368"/>
            <a:ext cx="1358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108950" y="4548088"/>
            <a:ext cx="1358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distribuído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9832975" y="4189313"/>
            <a:ext cx="1517650" cy="692150"/>
          </a:xfrm>
          <a:prstGeom prst="roundRect">
            <a:avLst>
              <a:gd name="adj" fmla="val 8716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912350" y="4309368"/>
            <a:ext cx="1358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Painéis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912350" y="4548088"/>
            <a:ext cx="13589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visualização</a:t>
            </a:r>
            <a:endParaRPr lang="en-US" sz="1200" dirty="0"/>
          </a:p>
        </p:txBody>
      </p:sp>
      <p:pic>
        <p:nvPicPr>
          <p:cNvPr id="30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86000" y="4484588"/>
            <a:ext cx="381000" cy="101600"/>
          </a:xfrm>
          <a:prstGeom prst="rect">
            <a:avLst/>
          </a:prstGeom>
        </p:spPr>
      </p:pic>
      <p:pic>
        <p:nvPicPr>
          <p:cNvPr id="31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089400" y="4484588"/>
            <a:ext cx="381000" cy="101600"/>
          </a:xfrm>
          <a:prstGeom prst="rect">
            <a:avLst/>
          </a:prstGeom>
        </p:spPr>
      </p:pic>
      <p:pic>
        <p:nvPicPr>
          <p:cNvPr id="32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892800" y="4484588"/>
            <a:ext cx="381000" cy="101600"/>
          </a:xfrm>
          <a:prstGeom prst="rect">
            <a:avLst/>
          </a:prstGeom>
        </p:spPr>
      </p:pic>
      <p:pic>
        <p:nvPicPr>
          <p:cNvPr id="33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696200" y="4484588"/>
            <a:ext cx="381000" cy="101600"/>
          </a:xfrm>
          <a:prstGeom prst="rect">
            <a:avLst/>
          </a:prstGeom>
        </p:spPr>
      </p:pic>
      <p:pic>
        <p:nvPicPr>
          <p:cNvPr id="34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499600" y="4484588"/>
            <a:ext cx="381000" cy="10160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Elaboração: proponente · ambiente completo provisionado com um único comando, em cerca de dois minutos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6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ARTESP">    </p:cNvPr>
          <p:cNvPicPr>
            <a:picLocks noChangeAspect="1"/>
          </p:cNvPicPr>
          <p:nvPr/>
        </p:nvPicPr>
        <p:blipFill>
          <a:blip r:embed="rId2"/>
          <a:srcRect l="-17" r="-17" t="0" b="0"/>
          <a:stretch/>
        </p:blipFill>
        <p:spPr>
          <a:xfrm>
            <a:off x="812800" y="812800"/>
            <a:ext cx="1841500" cy="50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199280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FFD6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PARTE II</a:t>
            </a:r>
            <a:endParaRPr lang="en-US" sz="1400" dirty="0"/>
          </a:p>
        </p:txBody>
      </p:sp>
      <p:sp>
        <p:nvSpPr>
          <p:cNvPr id="5" name="Text 1"/>
          <p:cNvSpPr/>
          <p:nvPr>
            <p:ph type="title"/>
          </p:nvPr>
        </p:nvSpPr>
        <p:spPr>
          <a:xfrm>
            <a:off x="812800" y="2419449"/>
            <a:ext cx="9156700" cy="8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20"/>
              </a:lnSpc>
              <a:buNone/>
            </a:pPr>
            <a:r>
              <a:rPr lang="en-US" sz="60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se propõe</a:t>
            </a:r>
            <a:endParaRPr lang="en-US" sz="6000" dirty="0"/>
          </a:p>
        </p:txBody>
      </p:sp>
      <p:sp>
        <p:nvSpPr>
          <p:cNvPr id="6" name="Text 2"/>
          <p:cNvSpPr/>
          <p:nvPr/>
        </p:nvSpPr>
        <p:spPr>
          <a:xfrm>
            <a:off x="812800" y="3374430"/>
            <a:ext cx="876427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  Restabelecer o CCM como gerência responsável pelo ciclo do dado.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812800" y="3712170"/>
            <a:ext cx="1021080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  Plataforma Multimodal: camada de dados própria e software contratado sobre ela.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12800" y="4049911"/>
            <a:ext cx="876427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  Consultoria para verificação independente dos dados na origem.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12800" y="4387652"/>
            <a:ext cx="876427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  Escritório de projetos na SUTID, com plataforma em software livre.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ESP">    </p:cNvPr>
          <p:cNvPicPr>
            <a:picLocks noChangeAspect="1"/>
          </p:cNvPicPr>
          <p:nvPr/>
        </p:nvPicPr>
        <p:blipFill>
          <a:blip r:embed="rId1"/>
          <a:srcRect l="0" r="0" t="-140" b="-140"/>
          <a:stretch/>
        </p:blipFill>
        <p:spPr>
          <a:xfrm>
            <a:off x="10369550" y="812800"/>
            <a:ext cx="1009650" cy="279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 01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203920"/>
            <a:ext cx="9156700" cy="480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Restabelecer o CCM como gerência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12800" y="1836837"/>
            <a:ext cx="9810750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CCM manteve o nível de gerência até junho de 2026, quando passou a coordenadoria. O nível gerencial é condição para exigir prazo e formato das demais áreas e para responder institucionalmente pelo dado publicado pela agência.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15975" y="2791123"/>
            <a:ext cx="3380284" cy="1494730"/>
          </a:xfrm>
          <a:prstGeom prst="roundRect">
            <a:avLst>
              <a:gd name="adj" fmla="val 4885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22350" y="2997498"/>
            <a:ext cx="355600" cy="3810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</p:sp>
      <p:sp>
        <p:nvSpPr>
          <p:cNvPr id="8" name="Text 5"/>
          <p:cNvSpPr/>
          <p:nvPr/>
        </p:nvSpPr>
        <p:spPr>
          <a:xfrm>
            <a:off x="1022350" y="3111798"/>
            <a:ext cx="30565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Coordenar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22350" y="3416598"/>
            <a:ext cx="305656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Padrões, prazos e responsabilidades de quem envia e de quem recebe os dados.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05809" y="2791123"/>
            <a:ext cx="3380284" cy="1494730"/>
          </a:xfrm>
          <a:prstGeom prst="roundRect">
            <a:avLst>
              <a:gd name="adj" fmla="val 4885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2184" y="2997498"/>
            <a:ext cx="355600" cy="3810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</p:sp>
      <p:sp>
        <p:nvSpPr>
          <p:cNvPr id="12" name="Text 9"/>
          <p:cNvSpPr/>
          <p:nvPr/>
        </p:nvSpPr>
        <p:spPr>
          <a:xfrm>
            <a:off x="4612184" y="3111798"/>
            <a:ext cx="30565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Verificar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612184" y="3416598"/>
            <a:ext cx="3056560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Conferência do que ingressa e registro da qualidade, com evidência do procedimento aplicado.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995642" y="2791123"/>
            <a:ext cx="3380284" cy="1494730"/>
          </a:xfrm>
          <a:prstGeom prst="roundRect">
            <a:avLst>
              <a:gd name="adj" fmla="val 4885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02017" y="2997498"/>
            <a:ext cx="355600" cy="3810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</p:sp>
      <p:sp>
        <p:nvSpPr>
          <p:cNvPr id="16" name="Text 13"/>
          <p:cNvSpPr/>
          <p:nvPr/>
        </p:nvSpPr>
        <p:spPr>
          <a:xfrm>
            <a:off x="8202017" y="3111798"/>
            <a:ext cx="30565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Publicar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02017" y="3416598"/>
            <a:ext cx="305656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Disponibilização aos canais e às áreas do dado consolidado e rastreável.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2800" y="4466828"/>
            <a:ext cx="104648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titularidade do conteúdo permanece com as Superintendências setoriais. O CCM responde pelo </a:t>
            </a:r>
            <a:r>
              <a:rPr lang="en-US" sz="1300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ciclo</a:t>
            </a:r>
            <a:r>
              <a:rPr lang="en-US" sz="13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padrão, recepção, verificação e publicação.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Atribuições formais e interfaces com as demais áreas a pactuar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ARTESP">    </p:cNvPr>
          <p:cNvPicPr>
            <a:picLocks noChangeAspect="1"/>
          </p:cNvPicPr>
          <p:nvPr/>
        </p:nvPicPr>
        <p:blipFill>
          <a:blip r:embed="rId2"/>
          <a:srcRect l="-17" r="-17" t="0" b="0"/>
          <a:stretch/>
        </p:blipFill>
        <p:spPr>
          <a:xfrm>
            <a:off x="812800" y="812800"/>
            <a:ext cx="1841500" cy="50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172094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FF66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 02 · PROPOSTA EM PLANEJAMENTO</a:t>
            </a:r>
            <a:endParaRPr lang="en-US" sz="1400" dirty="0"/>
          </a:p>
        </p:txBody>
      </p:sp>
      <p:sp>
        <p:nvSpPr>
          <p:cNvPr id="5" name="Text 1"/>
          <p:cNvSpPr/>
          <p:nvPr>
            <p:ph type="title"/>
          </p:nvPr>
        </p:nvSpPr>
        <p:spPr>
          <a:xfrm>
            <a:off x="812800" y="2198390"/>
            <a:ext cx="9810750" cy="1412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Plataforma Multimodal de Dados Regulatórios</a:t>
            </a:r>
            <a:endParaRPr lang="en-US" sz="5200" dirty="0"/>
          </a:p>
        </p:txBody>
      </p:sp>
      <p:sp>
        <p:nvSpPr>
          <p:cNvPr id="6" name="Shape 2"/>
          <p:cNvSpPr/>
          <p:nvPr/>
        </p:nvSpPr>
        <p:spPr>
          <a:xfrm>
            <a:off x="812800" y="3813671"/>
            <a:ext cx="1270000" cy="3810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</p:sp>
      <p:sp>
        <p:nvSpPr>
          <p:cNvPr id="7" name="Text 3"/>
          <p:cNvSpPr/>
          <p:nvPr/>
        </p:nvSpPr>
        <p:spPr>
          <a:xfrm>
            <a:off x="812800" y="4080371"/>
            <a:ext cx="9418320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Camada de dados construída pela agência; software multimodal contratado para operar sobre ela; infraestrutura contratada diretamente dos provedores de nuvem. Arquitetura e prova de conceito elaboradas pelo proponente.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ARTESP">    </p:cNvPr>
          <p:cNvPicPr>
            <a:picLocks noChangeAspect="1"/>
          </p:cNvPicPr>
          <p:nvPr/>
        </p:nvPicPr>
        <p:blipFill>
          <a:blip r:embed="rId2"/>
          <a:srcRect l="0" r="0" t="-140" b="-140"/>
          <a:stretch/>
        </p:blipFill>
        <p:spPr>
          <a:xfrm>
            <a:off x="10369550" y="812800"/>
            <a:ext cx="1009650" cy="279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66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DIAGNÓSTICO</a:t>
            </a:r>
            <a:endParaRPr lang="en-US" sz="1200" dirty="0"/>
          </a:p>
        </p:txBody>
      </p:sp>
      <p:sp>
        <p:nvSpPr>
          <p:cNvPr id="5" name="Text 1"/>
          <p:cNvSpPr/>
          <p:nvPr>
            <p:ph type="title"/>
          </p:nvPr>
        </p:nvSpPr>
        <p:spPr>
          <a:xfrm>
            <a:off x="812800" y="1203920"/>
            <a:ext cx="9156700" cy="1390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informação regulatória existe, mas não circula, não se transforma e não se consolida</a:t>
            </a:r>
            <a:endParaRPr lang="en-US" sz="3200" dirty="0"/>
          </a:p>
        </p:txBody>
      </p:sp>
      <p:pic>
        <p:nvPicPr>
          <p:cNvPr id="6" name="Image 2" descr="Databa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2747070"/>
            <a:ext cx="355600" cy="3556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295400" y="2747070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 plataforma única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1295400" y="2998490"/>
            <a:ext cx="300863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estruturados, vídeo e objetos digitais sem governança comum.</a:t>
            </a:r>
            <a:endParaRPr lang="en-US" sz="1200" dirty="0"/>
          </a:p>
        </p:txBody>
      </p:sp>
      <p:pic>
        <p:nvPicPr>
          <p:cNvPr id="9" name="Image 3" descr="Char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94200" y="2747070"/>
            <a:ext cx="355600" cy="355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876800" y="2747070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Maturidade só no rodoviário</a:t>
            </a:r>
            <a:endParaRPr lang="en-US" sz="1400" dirty="0"/>
          </a:p>
        </p:txBody>
      </p:sp>
      <p:sp>
        <p:nvSpPr>
          <p:cNvPr id="11" name="Text 5"/>
          <p:cNvSpPr/>
          <p:nvPr/>
        </p:nvSpPr>
        <p:spPr>
          <a:xfrm>
            <a:off x="4876800" y="2998490"/>
            <a:ext cx="300863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Demais modais sem equivalente consolidado para o mandato ampliado.</a:t>
            </a:r>
            <a:endParaRPr lang="en-US" sz="1200" dirty="0"/>
          </a:p>
        </p:txBody>
      </p:sp>
      <p:pic>
        <p:nvPicPr>
          <p:cNvPr id="12" name="Image 4" descr="Lin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975600" y="2747070"/>
            <a:ext cx="355600" cy="355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458200" y="2747070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Dependência da origem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8458200" y="2998490"/>
            <a:ext cx="300863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dado nasce no sistema do agente regulado, com qualidade heterogênea.</a:t>
            </a:r>
            <a:endParaRPr lang="en-US" sz="1200" dirty="0"/>
          </a:p>
        </p:txBody>
      </p:sp>
      <p:pic>
        <p:nvPicPr>
          <p:cNvPr id="15" name="Image 5" descr="Settings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2800" y="3602930"/>
            <a:ext cx="355600" cy="3556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295400" y="3602930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Contratos fragmentados</a:t>
            </a:r>
            <a:endParaRPr lang="en-US" sz="1400" dirty="0"/>
          </a:p>
        </p:txBody>
      </p:sp>
      <p:sp>
        <p:nvSpPr>
          <p:cNvPr id="17" name="Text 9"/>
          <p:cNvSpPr/>
          <p:nvPr/>
        </p:nvSpPr>
        <p:spPr>
          <a:xfrm>
            <a:off x="1295400" y="3854351"/>
            <a:ext cx="300863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versionamento de esquemas, quarentena e reconciliação em escala.</a:t>
            </a:r>
            <a:endParaRPr lang="en-US" sz="1200" dirty="0"/>
          </a:p>
        </p:txBody>
      </p:sp>
      <p:pic>
        <p:nvPicPr>
          <p:cNvPr id="18" name="Image 6" descr="Lock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94200" y="3602930"/>
            <a:ext cx="355600" cy="355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4876800" y="3602930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Custódia insuficiente</a:t>
            </a:r>
            <a:endParaRPr lang="en-US" sz="1400" dirty="0"/>
          </a:p>
        </p:txBody>
      </p:sp>
      <p:sp>
        <p:nvSpPr>
          <p:cNvPr id="20" name="Text 11"/>
          <p:cNvSpPr/>
          <p:nvPr/>
        </p:nvSpPr>
        <p:spPr>
          <a:xfrm>
            <a:off x="4876800" y="3854351"/>
            <a:ext cx="300863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Percurso da informação sem reconstituição auditável de ponta a ponta.</a:t>
            </a:r>
            <a:endParaRPr lang="en-US" sz="1200" dirty="0"/>
          </a:p>
        </p:txBody>
      </p:sp>
      <p:pic>
        <p:nvPicPr>
          <p:cNvPr id="21" name="Image 7" descr="Clock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975600" y="3602930"/>
            <a:ext cx="355600" cy="35560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8458200" y="3602930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Fiscalização reativa</a:t>
            </a:r>
            <a:endParaRPr lang="en-US" sz="1400" dirty="0"/>
          </a:p>
        </p:txBody>
      </p:sp>
      <p:sp>
        <p:nvSpPr>
          <p:cNvPr id="23" name="Text 13"/>
          <p:cNvSpPr/>
          <p:nvPr/>
        </p:nvSpPr>
        <p:spPr>
          <a:xfrm>
            <a:off x="8458200" y="3854351"/>
            <a:ext cx="300863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Consolidação tardia, em vez de monitoramento contínuo e alertas governados.</a:t>
            </a:r>
            <a:endParaRPr lang="en-US" sz="1200" dirty="0"/>
          </a:p>
        </p:txBody>
      </p:sp>
      <p:sp>
        <p:nvSpPr>
          <p:cNvPr id="24" name="Text 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Diagnóstico consolidado pelo proponente nos estudos preparatórios da proposta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ESP">    </p:cNvPr>
          <p:cNvPicPr>
            <a:picLocks noChangeAspect="1"/>
          </p:cNvPicPr>
          <p:nvPr/>
        </p:nvPicPr>
        <p:blipFill>
          <a:blip r:embed="rId1"/>
          <a:srcRect l="0" r="0" t="-140" b="-140"/>
          <a:stretch/>
        </p:blipFill>
        <p:spPr>
          <a:xfrm>
            <a:off x="10369550" y="812800"/>
            <a:ext cx="1009650" cy="2794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812800"/>
            <a:ext cx="9156700" cy="480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plataforma, camada a camada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1130300" y="1369516"/>
            <a:ext cx="25400" cy="44450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5" name="Shape 2"/>
          <p:cNvSpPr/>
          <p:nvPr/>
        </p:nvSpPr>
        <p:spPr>
          <a:xfrm>
            <a:off x="815975" y="1372691"/>
            <a:ext cx="10560050" cy="527050"/>
          </a:xfrm>
          <a:custGeom>
            <a:avLst/>
            <a:gdLst/>
            <a:ahLst/>
            <a:cxnLst/>
            <a:rect l="l" t="t" r="r" b="b"/>
            <a:pathLst>
              <a:path w="10560050" h="527050">
                <a:moveTo>
                  <a:pt x="263525" y="0"/>
                </a:moveTo>
                <a:lnTo>
                  <a:pt x="10499725" y="0"/>
                </a:lnTo>
                <a:arcTo hR="60325" wR="60325" stAng="16200000" swAng="5400000"/>
                <a:lnTo>
                  <a:pt x="10560050" y="466725"/>
                </a:lnTo>
                <a:arcTo hR="60325" wR="60325" stAng="0" swAng="5400000"/>
                <a:lnTo>
                  <a:pt x="263525" y="527050"/>
                </a:lnTo>
                <a:arcTo hR="263525" wR="263525" stAng="5400000" swAng="5400000"/>
                <a:lnTo>
                  <a:pt x="0" y="263525"/>
                </a:lnTo>
                <a:arcTo hR="263525" wR="263525" stAng="10800000" swAng="5400000"/>
                <a:close/>
              </a:path>
            </a:pathLst>
          </a:cu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71550" y="1458416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/>
        </p:spPr>
      </p:sp>
      <p:pic>
        <p:nvPicPr>
          <p:cNvPr id="7" name="Image 1" descr="User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54100" y="1540966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79550" y="1520627"/>
            <a:ext cx="19621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Fontes e produtores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540125" y="1475581"/>
            <a:ext cx="1380530" cy="32127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concessionárias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003205" y="1475581"/>
            <a:ext cx="1348482" cy="32127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permissionárias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34237" y="1475581"/>
            <a:ext cx="1034157" cy="32127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operadoras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550944" y="1475581"/>
            <a:ext cx="864890" cy="32127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498384" y="1475581"/>
            <a:ext cx="1472803" cy="32127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sistemas internos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5975" y="2020391"/>
            <a:ext cx="10560050" cy="527050"/>
          </a:xfrm>
          <a:custGeom>
            <a:avLst/>
            <a:gdLst/>
            <a:ahLst/>
            <a:cxnLst/>
            <a:rect l="l" t="t" r="r" b="b"/>
            <a:pathLst>
              <a:path w="10560050" h="527050">
                <a:moveTo>
                  <a:pt x="263525" y="0"/>
                </a:moveTo>
                <a:lnTo>
                  <a:pt x="10499725" y="0"/>
                </a:lnTo>
                <a:arcTo hR="60325" wR="60325" stAng="16200000" swAng="5400000"/>
                <a:lnTo>
                  <a:pt x="10560050" y="466725"/>
                </a:lnTo>
                <a:arcTo hR="60325" wR="60325" stAng="0" swAng="5400000"/>
                <a:lnTo>
                  <a:pt x="263525" y="527050"/>
                </a:lnTo>
                <a:arcTo hR="263525" wR="263525" stAng="5400000" swAng="5400000"/>
                <a:lnTo>
                  <a:pt x="0" y="263525"/>
                </a:lnTo>
                <a:arcTo hR="263525" wR="263525" stAng="10800000" swAng="5400000"/>
                <a:close/>
              </a:path>
            </a:pathLst>
          </a:cu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71550" y="2106116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/>
        </p:spPr>
      </p:sp>
      <p:pic>
        <p:nvPicPr>
          <p:cNvPr id="16" name="Image 2" descr="Lo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54100" y="2188666"/>
            <a:ext cx="190500" cy="1905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79550" y="2168327"/>
            <a:ext cx="19621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Borda de entrada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540125" y="2123281"/>
            <a:ext cx="3325713" cy="32127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gateways de API, eventos, arquivos e mídia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948388" y="2123281"/>
            <a:ext cx="1138932" cy="32127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autenticação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169870" y="2123281"/>
            <a:ext cx="1641872" cy="32127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limitação de tráfego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15975" y="2668091"/>
            <a:ext cx="10560050" cy="527050"/>
          </a:xfrm>
          <a:custGeom>
            <a:avLst/>
            <a:gdLst/>
            <a:ahLst/>
            <a:cxnLst/>
            <a:rect l="l" t="t" r="r" b="b"/>
            <a:pathLst>
              <a:path w="10560050" h="527050">
                <a:moveTo>
                  <a:pt x="263525" y="0"/>
                </a:moveTo>
                <a:lnTo>
                  <a:pt x="10499725" y="0"/>
                </a:lnTo>
                <a:arcTo hR="60325" wR="60325" stAng="16200000" swAng="5400000"/>
                <a:lnTo>
                  <a:pt x="10560050" y="466725"/>
                </a:lnTo>
                <a:arcTo hR="60325" wR="60325" stAng="0" swAng="5400000"/>
                <a:lnTo>
                  <a:pt x="263525" y="527050"/>
                </a:lnTo>
                <a:arcTo hR="263525" wR="263525" stAng="5400000" swAng="5400000"/>
                <a:lnTo>
                  <a:pt x="0" y="263525"/>
                </a:lnTo>
                <a:arcTo hR="263525" wR="263525" stAng="10800000" swAng="5400000"/>
                <a:close/>
              </a:path>
            </a:pathLst>
          </a:cu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71550" y="2753816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/>
        </p:spPr>
      </p:sp>
      <p:pic>
        <p:nvPicPr>
          <p:cNvPr id="23" name="Image 3" descr="Activity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54100" y="2836366"/>
            <a:ext cx="190500" cy="1905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79550" y="2816027"/>
            <a:ext cx="19621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Trilhas de ingestão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3540125" y="2770981"/>
            <a:ext cx="2588121" cy="32127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· dados e eventos estruturados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210796" y="2770981"/>
            <a:ext cx="1733252" cy="32127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· CFTV e streaming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8026598" y="2770981"/>
            <a:ext cx="1771055" cy="32127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· arquivos e objetos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815975" y="3315791"/>
            <a:ext cx="10560050" cy="527050"/>
          </a:xfrm>
          <a:custGeom>
            <a:avLst/>
            <a:gdLst/>
            <a:ahLst/>
            <a:cxnLst/>
            <a:rect l="l" t="t" r="r" b="b"/>
            <a:pathLst>
              <a:path w="10560050" h="527050">
                <a:moveTo>
                  <a:pt x="263525" y="0"/>
                </a:moveTo>
                <a:lnTo>
                  <a:pt x="10499725" y="0"/>
                </a:lnTo>
                <a:arcTo hR="60325" wR="60325" stAng="16200000" swAng="5400000"/>
                <a:lnTo>
                  <a:pt x="10560050" y="466725"/>
                </a:lnTo>
                <a:arcTo hR="60325" wR="60325" stAng="0" swAng="5400000"/>
                <a:lnTo>
                  <a:pt x="263525" y="527050"/>
                </a:lnTo>
                <a:arcTo hR="263525" wR="263525" stAng="5400000" swAng="5400000"/>
                <a:lnTo>
                  <a:pt x="0" y="263525"/>
                </a:lnTo>
                <a:arcTo hR="263525" wR="263525" stAng="10800000" swAng="5400000"/>
                <a:close/>
              </a:path>
            </a:pathLst>
          </a:custGeom>
          <a:solidFill>
            <a:srgbClr val="D32F2F"/>
          </a:solidFill>
          <a:ln w="6350">
            <a:solidFill>
              <a:srgbClr val="D32F2F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71550" y="3401516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30" name="Image 4" descr="Verified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54100" y="3484066"/>
            <a:ext cx="190500" cy="1905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479550" y="3348236"/>
            <a:ext cx="19621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Controle de ingestão e qualidade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3540125" y="3418681"/>
            <a:ext cx="891084" cy="321270"/>
          </a:xfrm>
          <a:prstGeom prst="roundRect">
            <a:avLst>
              <a:gd name="adj" fmla="val 14824"/>
            </a:avLst>
          </a:prstGeom>
          <a:noFill/>
          <a:ln w="6350">
            <a:solidFill>
              <a:srgbClr val="FFFFF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contratos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4513759" y="3418681"/>
            <a:ext cx="779562" cy="321270"/>
          </a:xfrm>
          <a:prstGeom prst="roundRect">
            <a:avLst>
              <a:gd name="adj" fmla="val 14824"/>
            </a:avLst>
          </a:prstGeom>
          <a:noFill/>
          <a:ln w="6350">
            <a:solidFill>
              <a:srgbClr val="FFFFF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versões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5375870" y="3418681"/>
            <a:ext cx="898327" cy="321270"/>
          </a:xfrm>
          <a:prstGeom prst="roundRect">
            <a:avLst>
              <a:gd name="adj" fmla="val 14824"/>
            </a:avLst>
          </a:prstGeom>
          <a:noFill/>
          <a:ln w="6350">
            <a:solidFill>
              <a:srgbClr val="FFFFF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6356747" y="3418681"/>
            <a:ext cx="1181993" cy="321270"/>
          </a:xfrm>
          <a:prstGeom prst="roundRect">
            <a:avLst>
              <a:gd name="adj" fmla="val 14824"/>
            </a:avLst>
          </a:prstGeom>
          <a:noFill/>
          <a:ln w="6350">
            <a:solidFill>
              <a:srgbClr val="FFFFF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deduplicação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7621290" y="3418681"/>
            <a:ext cx="1025128" cy="321270"/>
          </a:xfrm>
          <a:prstGeom prst="roundRect">
            <a:avLst>
              <a:gd name="adj" fmla="val 14824"/>
            </a:avLst>
          </a:prstGeom>
          <a:noFill/>
          <a:ln w="6350">
            <a:solidFill>
              <a:srgbClr val="FFFFF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quarentena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8728968" y="3418681"/>
            <a:ext cx="831056" cy="321270"/>
          </a:xfrm>
          <a:prstGeom prst="roundRect">
            <a:avLst>
              <a:gd name="adj" fmla="val 14824"/>
            </a:avLst>
          </a:prstGeom>
          <a:noFill/>
          <a:ln w="6350">
            <a:solidFill>
              <a:srgbClr val="FFFFF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histórico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815975" y="3963491"/>
            <a:ext cx="10560050" cy="527050"/>
          </a:xfrm>
          <a:custGeom>
            <a:avLst/>
            <a:gdLst/>
            <a:ahLst/>
            <a:cxnLst/>
            <a:rect l="l" t="t" r="r" b="b"/>
            <a:pathLst>
              <a:path w="10560050" h="527050">
                <a:moveTo>
                  <a:pt x="263525" y="0"/>
                </a:moveTo>
                <a:lnTo>
                  <a:pt x="10499725" y="0"/>
                </a:lnTo>
                <a:arcTo hR="60325" wR="60325" stAng="16200000" swAng="5400000"/>
                <a:lnTo>
                  <a:pt x="10560050" y="466725"/>
                </a:lnTo>
                <a:arcTo hR="60325" wR="60325" stAng="0" swAng="5400000"/>
                <a:lnTo>
                  <a:pt x="263525" y="527050"/>
                </a:lnTo>
                <a:arcTo hR="263525" wR="263525" stAng="5400000" swAng="5400000"/>
                <a:lnTo>
                  <a:pt x="0" y="263525"/>
                </a:lnTo>
                <a:arcTo hR="263525" wR="263525" stAng="10800000" swAng="5400000"/>
                <a:close/>
              </a:path>
            </a:pathLst>
          </a:cu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971550" y="4049216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/>
        </p:spPr>
      </p:sp>
      <p:pic>
        <p:nvPicPr>
          <p:cNvPr id="40" name="Image 5" descr="Settings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54100" y="4131766"/>
            <a:ext cx="190500" cy="19050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479550" y="3995936"/>
            <a:ext cx="19621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Processamento e correlação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3540125" y="4066381"/>
            <a:ext cx="1178917" cy="32127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normalização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4801592" y="4066381"/>
            <a:ext cx="1332607" cy="32127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enriquecimento</a:t>
            </a:r>
            <a:endParaRPr lang="en-US" sz="1200" dirty="0"/>
          </a:p>
        </p:txBody>
      </p:sp>
      <p:sp>
        <p:nvSpPr>
          <p:cNvPr id="44" name="Text 36"/>
          <p:cNvSpPr/>
          <p:nvPr/>
        </p:nvSpPr>
        <p:spPr>
          <a:xfrm>
            <a:off x="6216749" y="4066381"/>
            <a:ext cx="1170682" cy="32127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reconciliação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7469981" y="4066381"/>
            <a:ext cx="1812528" cy="32127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correlação multimodal</a:t>
            </a:r>
            <a:endParaRPr lang="en-US" sz="1200" dirty="0"/>
          </a:p>
        </p:txBody>
      </p:sp>
      <p:sp>
        <p:nvSpPr>
          <p:cNvPr id="46" name="Shape 38"/>
          <p:cNvSpPr/>
          <p:nvPr/>
        </p:nvSpPr>
        <p:spPr>
          <a:xfrm>
            <a:off x="815975" y="4611191"/>
            <a:ext cx="10560050" cy="527050"/>
          </a:xfrm>
          <a:custGeom>
            <a:avLst/>
            <a:gdLst/>
            <a:ahLst/>
            <a:cxnLst/>
            <a:rect l="l" t="t" r="r" b="b"/>
            <a:pathLst>
              <a:path w="10560050" h="527050">
                <a:moveTo>
                  <a:pt x="263525" y="0"/>
                </a:moveTo>
                <a:lnTo>
                  <a:pt x="10499725" y="0"/>
                </a:lnTo>
                <a:arcTo hR="60325" wR="60325" stAng="16200000" swAng="5400000"/>
                <a:lnTo>
                  <a:pt x="10560050" y="466725"/>
                </a:lnTo>
                <a:arcTo hR="60325" wR="60325" stAng="0" swAng="5400000"/>
                <a:lnTo>
                  <a:pt x="263525" y="527050"/>
                </a:lnTo>
                <a:arcTo hR="263525" wR="263525" stAng="5400000" swAng="5400000"/>
                <a:lnTo>
                  <a:pt x="0" y="263525"/>
                </a:lnTo>
                <a:arcTo hR="263525" wR="263525" stAng="10800000" swAng="5400000"/>
                <a:close/>
              </a:path>
            </a:pathLst>
          </a:cu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971550" y="4696916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/>
        </p:spPr>
      </p:sp>
      <p:pic>
        <p:nvPicPr>
          <p:cNvPr id="48" name="Image 6" descr="Databas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54100" y="4779466"/>
            <a:ext cx="190500" cy="190500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1479550" y="4643636"/>
            <a:ext cx="19621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Armazenamento central</a:t>
            </a:r>
            <a:endParaRPr lang="en-US" sz="1300" dirty="0"/>
          </a:p>
        </p:txBody>
      </p:sp>
      <p:sp>
        <p:nvSpPr>
          <p:cNvPr id="50" name="Text 41"/>
          <p:cNvSpPr/>
          <p:nvPr/>
        </p:nvSpPr>
        <p:spPr>
          <a:xfrm>
            <a:off x="3540125" y="4714081"/>
            <a:ext cx="1522413" cy="32127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eventos e estados</a:t>
            </a:r>
            <a:endParaRPr lang="en-US" sz="1200" dirty="0"/>
          </a:p>
        </p:txBody>
      </p:sp>
      <p:sp>
        <p:nvSpPr>
          <p:cNvPr id="51" name="Text 42"/>
          <p:cNvSpPr/>
          <p:nvPr/>
        </p:nvSpPr>
        <p:spPr>
          <a:xfrm>
            <a:off x="5145088" y="4714081"/>
            <a:ext cx="1685429" cy="32127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objetos e evidências</a:t>
            </a:r>
            <a:endParaRPr lang="en-US" sz="1200" dirty="0"/>
          </a:p>
        </p:txBody>
      </p:sp>
      <p:sp>
        <p:nvSpPr>
          <p:cNvPr id="52" name="Text 43"/>
          <p:cNvSpPr/>
          <p:nvPr/>
        </p:nvSpPr>
        <p:spPr>
          <a:xfrm>
            <a:off x="6913066" y="4714081"/>
            <a:ext cx="1625302" cy="32127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repositório analítico</a:t>
            </a:r>
            <a:endParaRPr lang="en-US" sz="1200" dirty="0"/>
          </a:p>
        </p:txBody>
      </p:sp>
      <p:sp>
        <p:nvSpPr>
          <p:cNvPr id="53" name="Text 44"/>
          <p:cNvSpPr/>
          <p:nvPr/>
        </p:nvSpPr>
        <p:spPr>
          <a:xfrm>
            <a:off x="8620919" y="4714081"/>
            <a:ext cx="913507" cy="32127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catálogos</a:t>
            </a:r>
            <a:endParaRPr lang="en-US" sz="1200" dirty="0"/>
          </a:p>
        </p:txBody>
      </p:sp>
      <p:sp>
        <p:nvSpPr>
          <p:cNvPr id="54" name="Shape 45"/>
          <p:cNvSpPr/>
          <p:nvPr/>
        </p:nvSpPr>
        <p:spPr>
          <a:xfrm>
            <a:off x="815975" y="5258891"/>
            <a:ext cx="10560050" cy="527050"/>
          </a:xfrm>
          <a:custGeom>
            <a:avLst/>
            <a:gdLst/>
            <a:ahLst/>
            <a:cxnLst/>
            <a:rect l="l" t="t" r="r" b="b"/>
            <a:pathLst>
              <a:path w="10560050" h="527050">
                <a:moveTo>
                  <a:pt x="263525" y="0"/>
                </a:moveTo>
                <a:lnTo>
                  <a:pt x="10499725" y="0"/>
                </a:lnTo>
                <a:arcTo hR="60325" wR="60325" stAng="16200000" swAng="5400000"/>
                <a:lnTo>
                  <a:pt x="10560050" y="466725"/>
                </a:lnTo>
                <a:arcTo hR="60325" wR="60325" stAng="0" swAng="5400000"/>
                <a:lnTo>
                  <a:pt x="263525" y="527050"/>
                </a:lnTo>
                <a:arcTo hR="263525" wR="263525" stAng="5400000" swAng="5400000"/>
                <a:lnTo>
                  <a:pt x="0" y="263525"/>
                </a:lnTo>
                <a:arcTo hR="263525" wR="263525" stAng="10800000" swAng="5400000"/>
                <a:close/>
              </a:path>
            </a:pathLst>
          </a:cu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>
            <a:off x="971550" y="5344616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/>
        </p:spPr>
      </p:sp>
      <p:pic>
        <p:nvPicPr>
          <p:cNvPr id="56" name="Image 7" descr="Chart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54100" y="5427166"/>
            <a:ext cx="190500" cy="190500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1479550" y="5406827"/>
            <a:ext cx="19621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Consumo e operação</a:t>
            </a:r>
            <a:endParaRPr lang="en-US" sz="1300" dirty="0"/>
          </a:p>
        </p:txBody>
      </p:sp>
      <p:sp>
        <p:nvSpPr>
          <p:cNvPr id="58" name="Text 48"/>
          <p:cNvSpPr/>
          <p:nvPr/>
        </p:nvSpPr>
        <p:spPr>
          <a:xfrm>
            <a:off x="3540125" y="5361781"/>
            <a:ext cx="891580" cy="32127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operação</a:t>
            </a:r>
            <a:endParaRPr lang="en-US" sz="1200" dirty="0"/>
          </a:p>
        </p:txBody>
      </p:sp>
      <p:sp>
        <p:nvSpPr>
          <p:cNvPr id="59" name="Text 49"/>
          <p:cNvSpPr/>
          <p:nvPr/>
        </p:nvSpPr>
        <p:spPr>
          <a:xfrm>
            <a:off x="4514255" y="5361781"/>
            <a:ext cx="1066502" cy="32127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fiscalização</a:t>
            </a:r>
            <a:endParaRPr lang="en-US" sz="1200" dirty="0"/>
          </a:p>
        </p:txBody>
      </p:sp>
      <p:sp>
        <p:nvSpPr>
          <p:cNvPr id="60" name="Text 50"/>
          <p:cNvSpPr/>
          <p:nvPr/>
        </p:nvSpPr>
        <p:spPr>
          <a:xfrm>
            <a:off x="5663307" y="5361781"/>
            <a:ext cx="723106" cy="32127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painéis</a:t>
            </a:r>
            <a:endParaRPr lang="en-US" sz="1200" dirty="0"/>
          </a:p>
        </p:txBody>
      </p:sp>
      <p:sp>
        <p:nvSpPr>
          <p:cNvPr id="61" name="Text 51"/>
          <p:cNvSpPr/>
          <p:nvPr/>
        </p:nvSpPr>
        <p:spPr>
          <a:xfrm>
            <a:off x="6468963" y="5361781"/>
            <a:ext cx="1196578" cy="32127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transparência</a:t>
            </a:r>
            <a:endParaRPr lang="en-US" sz="1200" dirty="0"/>
          </a:p>
        </p:txBody>
      </p:sp>
      <p:sp>
        <p:nvSpPr>
          <p:cNvPr id="62" name="Text 52"/>
          <p:cNvSpPr/>
          <p:nvPr/>
        </p:nvSpPr>
        <p:spPr>
          <a:xfrm>
            <a:off x="7748091" y="5361781"/>
            <a:ext cx="1564878" cy="321270"/>
          </a:xfrm>
          <a:prstGeom prst="roundRect">
            <a:avLst>
              <a:gd name="adj" fmla="val 14824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órgãos de controle</a:t>
            </a:r>
            <a:endParaRPr lang="en-US" sz="1200" dirty="0"/>
          </a:p>
        </p:txBody>
      </p:sp>
      <p:sp>
        <p:nvSpPr>
          <p:cNvPr id="63" name="Text 5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destaque, a camada em que a agência decide o que ingressa · camada transversal: governança, segurança, observabilidade e auditoria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ESP">    </p:cNvPr>
          <p:cNvPicPr>
            <a:picLocks noChangeAspect="1"/>
          </p:cNvPicPr>
          <p:nvPr/>
        </p:nvPicPr>
        <p:blipFill>
          <a:blip r:embed="rId1"/>
          <a:srcRect l="0" r="0" t="-140" b="-140"/>
          <a:stretch/>
        </p:blipFill>
        <p:spPr>
          <a:xfrm>
            <a:off x="10369550" y="812800"/>
            <a:ext cx="1009650" cy="2794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812800"/>
            <a:ext cx="9156700" cy="480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Ingresso e controle do dado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5975" y="1372691"/>
            <a:ext cx="3295650" cy="946150"/>
          </a:xfrm>
          <a:prstGeom prst="roundRect">
            <a:avLst>
              <a:gd name="adj" fmla="val 7718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pic>
        <p:nvPicPr>
          <p:cNvPr id="5" name="Image 1" descr="Cod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6950" y="1693366"/>
            <a:ext cx="304800" cy="304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28750" y="1514376"/>
            <a:ext cx="2576957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Trilha A · Dados e eventos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428750" y="1750516"/>
            <a:ext cx="257695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Mensagens estruturadas e telemetria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448175" y="1372691"/>
            <a:ext cx="3295650" cy="946150"/>
          </a:xfrm>
          <a:prstGeom prst="roundRect">
            <a:avLst>
              <a:gd name="adj" fmla="val 7718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pic>
        <p:nvPicPr>
          <p:cNvPr id="9" name="Image 2" descr="Play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29150" y="1693366"/>
            <a:ext cx="304800" cy="304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60950" y="1621036"/>
            <a:ext cx="2576957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Trilha B · CFTV e streaming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5060950" y="1857177"/>
            <a:ext cx="25769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Sessões de vídeo e evidências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8080375" y="1372691"/>
            <a:ext cx="3295650" cy="946150"/>
          </a:xfrm>
          <a:prstGeom prst="roundRect">
            <a:avLst>
              <a:gd name="adj" fmla="val 7718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pic>
        <p:nvPicPr>
          <p:cNvPr id="13" name="Image 3" descr="Boo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261350" y="1693366"/>
            <a:ext cx="304800" cy="3048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93150" y="1621036"/>
            <a:ext cx="2576957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Trilha C · Arquivos e objetos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8693150" y="1857177"/>
            <a:ext cx="25769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Documentos, imagens e binários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2289175" y="2960191"/>
            <a:ext cx="7613650" cy="819150"/>
          </a:xfrm>
          <a:prstGeom prst="roundRect">
            <a:avLst>
              <a:gd name="adj" fmla="val 8915"/>
            </a:avLst>
          </a:prstGeom>
          <a:solidFill>
            <a:srgbClr val="141414"/>
          </a:solidFill>
          <a:ln w="6350">
            <a:solidFill>
              <a:srgbClr val="141414"/>
            </a:solidFill>
            <a:prstDash val="solid"/>
          </a:ln>
        </p:spPr>
      </p:sp>
      <p:pic>
        <p:nvPicPr>
          <p:cNvPr id="17" name="Image 4" descr="Verified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470150" y="3191966"/>
            <a:ext cx="355600" cy="355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978150" y="3038376"/>
            <a:ext cx="6946011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Controle de ingestão e qualidade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2978150" y="3274516"/>
            <a:ext cx="694601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Contrato e versão → validação → duplicidade → quarentena. A decisão de aceite é registrada.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819150" y="4423866"/>
            <a:ext cx="2400300" cy="12573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141414"/>
            </a:solidFill>
            <a:prstDash val="solid"/>
          </a:ln>
        </p:spPr>
      </p:sp>
      <p:pic>
        <p:nvPicPr>
          <p:cNvPr id="21" name="Image 5" descr="Chec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77900" y="4582616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282700" y="4590256"/>
            <a:ext cx="7148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Aceito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977900" y="4874716"/>
            <a:ext cx="2145284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Encaminhado ao processamento e à publicação.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3536950" y="4423866"/>
            <a:ext cx="2400300" cy="12573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pic>
        <p:nvPicPr>
          <p:cNvPr id="25" name="Image 6" descr="Warni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695700" y="4582616"/>
            <a:ext cx="228600" cy="2286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4000500" y="4590256"/>
            <a:ext cx="14762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 ressalva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3695700" y="4874716"/>
            <a:ext cx="214528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Admitido com marcação da divergência identificada.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6254750" y="4423866"/>
            <a:ext cx="2400300" cy="1257300"/>
          </a:xfrm>
          <a:prstGeom prst="roundRect">
            <a:avLst>
              <a:gd name="adj" fmla="val 5556"/>
            </a:avLst>
          </a:prstGeom>
          <a:solidFill>
            <a:srgbClr val="FDECEA"/>
          </a:solidFill>
          <a:ln w="12700">
            <a:solidFill>
              <a:srgbClr val="D32F2F"/>
            </a:solidFill>
            <a:prstDash val="solid"/>
          </a:ln>
        </p:spPr>
      </p:sp>
      <p:pic>
        <p:nvPicPr>
          <p:cNvPr id="29" name="Image 7" descr="Warni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413500" y="4582616"/>
            <a:ext cx="228600" cy="2286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718300" y="4590256"/>
            <a:ext cx="10632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B71C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Rejeitado</a:t>
            </a:r>
            <a:endParaRPr lang="en-US" sz="1400" dirty="0"/>
          </a:p>
        </p:txBody>
      </p:sp>
      <p:sp>
        <p:nvSpPr>
          <p:cNvPr id="31" name="Text 21"/>
          <p:cNvSpPr/>
          <p:nvPr/>
        </p:nvSpPr>
        <p:spPr>
          <a:xfrm>
            <a:off x="6413500" y="4874716"/>
            <a:ext cx="2145284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Recusado na entrada; o motivo é devolvido ao operador.</a:t>
            </a:r>
            <a:endParaRPr lang="en-US" sz="1200" dirty="0"/>
          </a:p>
        </p:txBody>
      </p:sp>
      <p:sp>
        <p:nvSpPr>
          <p:cNvPr id="32" name="Shape 22"/>
          <p:cNvSpPr/>
          <p:nvPr/>
        </p:nvSpPr>
        <p:spPr>
          <a:xfrm>
            <a:off x="8972550" y="4423866"/>
            <a:ext cx="2400300" cy="12573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9A9A9A"/>
            </a:solidFill>
            <a:prstDash val="dash"/>
          </a:ln>
        </p:spPr>
      </p:sp>
      <p:pic>
        <p:nvPicPr>
          <p:cNvPr id="33" name="Image 8" descr="Clock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9131300" y="4582616"/>
            <a:ext cx="228600" cy="22860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9436100" y="4590256"/>
            <a:ext cx="17279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 quarentena</a:t>
            </a:r>
            <a:endParaRPr lang="en-US" sz="1400" dirty="0"/>
          </a:p>
        </p:txBody>
      </p:sp>
      <p:sp>
        <p:nvSpPr>
          <p:cNvPr id="35" name="Text 24"/>
          <p:cNvSpPr/>
          <p:nvPr/>
        </p:nvSpPr>
        <p:spPr>
          <a:xfrm>
            <a:off x="9131300" y="4874716"/>
            <a:ext cx="214528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Retido para análise prévia à decisão.</a:t>
            </a:r>
            <a:endParaRPr lang="en-US" sz="1200" dirty="0"/>
          </a:p>
        </p:txBody>
      </p:sp>
      <p:pic>
        <p:nvPicPr>
          <p:cNvPr id="36" name="Image 9" descr="connector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2413000" y="2271216"/>
            <a:ext cx="101600" cy="584200"/>
          </a:xfrm>
          <a:prstGeom prst="rect">
            <a:avLst/>
          </a:prstGeom>
        </p:spPr>
      </p:pic>
      <p:pic>
        <p:nvPicPr>
          <p:cNvPr id="37" name="Image 10" descr="connector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045200" y="2271216"/>
            <a:ext cx="101600" cy="584200"/>
          </a:xfrm>
          <a:prstGeom prst="rect">
            <a:avLst/>
          </a:prstGeom>
        </p:spPr>
      </p:pic>
      <p:pic>
        <p:nvPicPr>
          <p:cNvPr id="38" name="Image 11" descr="connector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9677400" y="2271216"/>
            <a:ext cx="101600" cy="584200"/>
          </a:xfrm>
          <a:prstGeom prst="rect">
            <a:avLst/>
          </a:prstGeom>
        </p:spPr>
      </p:pic>
      <p:pic>
        <p:nvPicPr>
          <p:cNvPr id="39" name="Image 12" descr="connector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2413000" y="2753816"/>
            <a:ext cx="7366000" cy="101600"/>
          </a:xfrm>
          <a:prstGeom prst="rect">
            <a:avLst/>
          </a:prstGeom>
        </p:spPr>
      </p:pic>
      <p:pic>
        <p:nvPicPr>
          <p:cNvPr id="40" name="Image 13" descr="connector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6045200" y="2753816"/>
            <a:ext cx="101600" cy="254000"/>
          </a:xfrm>
          <a:prstGeom prst="rect">
            <a:avLst/>
          </a:prstGeom>
        </p:spPr>
      </p:pic>
      <p:pic>
        <p:nvPicPr>
          <p:cNvPr id="41" name="Image 14" descr="connector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6045200" y="3731716"/>
            <a:ext cx="101600" cy="584200"/>
          </a:xfrm>
          <a:prstGeom prst="rect">
            <a:avLst/>
          </a:prstGeom>
        </p:spPr>
      </p:pic>
      <p:pic>
        <p:nvPicPr>
          <p:cNvPr id="42" name="Image 15" descr="connector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1968500" y="4214316"/>
            <a:ext cx="8255000" cy="101600"/>
          </a:xfrm>
          <a:prstGeom prst="rect">
            <a:avLst/>
          </a:prstGeom>
        </p:spPr>
      </p:pic>
      <p:pic>
        <p:nvPicPr>
          <p:cNvPr id="43" name="Image 16" descr="connector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1968500" y="4214316"/>
            <a:ext cx="101600" cy="254000"/>
          </a:xfrm>
          <a:prstGeom prst="rect">
            <a:avLst/>
          </a:prstGeom>
        </p:spPr>
      </p:pic>
      <p:pic>
        <p:nvPicPr>
          <p:cNvPr id="44" name="Image 17" descr="connector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4686300" y="4214316"/>
            <a:ext cx="101600" cy="254000"/>
          </a:xfrm>
          <a:prstGeom prst="rect">
            <a:avLst/>
          </a:prstGeom>
        </p:spPr>
      </p:pic>
      <p:pic>
        <p:nvPicPr>
          <p:cNvPr id="45" name="Image 18" descr="connector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7404100" y="4214316"/>
            <a:ext cx="101600" cy="254000"/>
          </a:xfrm>
          <a:prstGeom prst="rect">
            <a:avLst/>
          </a:prstGeom>
        </p:spPr>
      </p:pic>
      <p:pic>
        <p:nvPicPr>
          <p:cNvPr id="46" name="Image 19" descr="connector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10121900" y="4214316"/>
            <a:ext cx="101600" cy="254000"/>
          </a:xfrm>
          <a:prstGeom prst="rect">
            <a:avLst/>
          </a:prstGeom>
        </p:spPr>
      </p:pic>
      <p:sp>
        <p:nvSpPr>
          <p:cNvPr id="47" name="Text 2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Vedado o aceite sem contrato ou versão · vedada a perda de visibilidade sobre falhas · todo registro recusado conserva o motivo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ESP">    </p:cNvPr>
          <p:cNvPicPr>
            <a:picLocks noChangeAspect="1"/>
          </p:cNvPicPr>
          <p:nvPr/>
        </p:nvPicPr>
        <p:blipFill>
          <a:blip r:embed="rId1"/>
          <a:srcRect l="0" r="0" t="-140" b="-140"/>
          <a:stretch/>
        </p:blipFill>
        <p:spPr>
          <a:xfrm>
            <a:off x="10369550" y="812800"/>
            <a:ext cx="1009650" cy="2794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812800"/>
            <a:ext cx="9156700" cy="480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Evidência digital e rastreabilidade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1069975" y="1372691"/>
            <a:ext cx="2660650" cy="946150"/>
          </a:xfrm>
          <a:prstGeom prst="roundRect">
            <a:avLst>
              <a:gd name="adj" fmla="val 7718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25550" y="1515566"/>
            <a:ext cx="2419985" cy="218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68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Manifesto declarado</a:t>
            </a:r>
            <a:endParaRPr lang="en-US" sz="1268" dirty="0"/>
          </a:p>
        </p:txBody>
      </p:sp>
      <p:sp>
        <p:nvSpPr>
          <p:cNvPr id="6" name="Text 3"/>
          <p:cNvSpPr/>
          <p:nvPr/>
        </p:nvSpPr>
        <p:spPr>
          <a:xfrm>
            <a:off x="1225550" y="1759645"/>
            <a:ext cx="2419985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9"/>
              </a:lnSpc>
              <a:buNone/>
            </a:pPr>
            <a:r>
              <a:rPr lang="en-US" sz="1185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Arquivos que acompanham a ocorrência</a:t>
            </a:r>
            <a:endParaRPr lang="en-US" sz="1185" dirty="0"/>
          </a:p>
        </p:txBody>
      </p:sp>
      <p:sp>
        <p:nvSpPr>
          <p:cNvPr id="7" name="Shape 4"/>
          <p:cNvSpPr/>
          <p:nvPr/>
        </p:nvSpPr>
        <p:spPr>
          <a:xfrm>
            <a:off x="4244975" y="1372691"/>
            <a:ext cx="2660650" cy="946150"/>
          </a:xfrm>
          <a:prstGeom prst="roundRect">
            <a:avLst>
              <a:gd name="adj" fmla="val 7718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400550" y="1515566"/>
            <a:ext cx="2419985" cy="218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268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Arquivos recebidos</a:t>
            </a:r>
            <a:endParaRPr lang="en-US" sz="1268" dirty="0"/>
          </a:p>
        </p:txBody>
      </p:sp>
      <p:sp>
        <p:nvSpPr>
          <p:cNvPr id="9" name="Text 6"/>
          <p:cNvSpPr/>
          <p:nvPr/>
        </p:nvSpPr>
        <p:spPr>
          <a:xfrm>
            <a:off x="4400550" y="1759645"/>
            <a:ext cx="2419985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9"/>
              </a:lnSpc>
              <a:buNone/>
            </a:pPr>
            <a:r>
              <a:rPr lang="en-US" sz="1185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Objetos efetivamente armazenados</a:t>
            </a:r>
            <a:endParaRPr lang="en-US" sz="1185" dirty="0"/>
          </a:p>
        </p:txBody>
      </p:sp>
      <p:sp>
        <p:nvSpPr>
          <p:cNvPr id="10" name="Shape 7"/>
          <p:cNvSpPr/>
          <p:nvPr/>
        </p:nvSpPr>
        <p:spPr>
          <a:xfrm>
            <a:off x="2085975" y="2960191"/>
            <a:ext cx="3803650" cy="819150"/>
          </a:xfrm>
          <a:prstGeom prst="roundRect">
            <a:avLst>
              <a:gd name="adj" fmla="val 8915"/>
            </a:avLst>
          </a:prstGeom>
          <a:solidFill>
            <a:srgbClr val="FFFFFF"/>
          </a:solidFill>
          <a:ln w="6350">
            <a:solidFill>
              <a:srgbClr val="D32F2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41550" y="3090366"/>
            <a:ext cx="3597275" cy="186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2"/>
              </a:lnSpc>
              <a:buNone/>
            </a:pPr>
            <a:r>
              <a:rPr lang="en-US" sz="106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Conciliação</a:t>
            </a:r>
            <a:endParaRPr lang="en-US" sz="1060" dirty="0"/>
          </a:p>
        </p:txBody>
      </p:sp>
      <p:sp>
        <p:nvSpPr>
          <p:cNvPr id="12" name="Text 9"/>
          <p:cNvSpPr/>
          <p:nvPr/>
        </p:nvSpPr>
        <p:spPr>
          <a:xfrm>
            <a:off x="2241550" y="3302198"/>
            <a:ext cx="3597275" cy="372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99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Declarado × recebido × impressão digital, com prazo por tipo de anexo</a:t>
            </a:r>
            <a:endParaRPr lang="en-US" sz="990" dirty="0"/>
          </a:p>
        </p:txBody>
      </p:sp>
      <p:sp>
        <p:nvSpPr>
          <p:cNvPr id="13" name="Shape 10"/>
          <p:cNvSpPr/>
          <p:nvPr/>
        </p:nvSpPr>
        <p:spPr>
          <a:xfrm>
            <a:off x="815975" y="4420691"/>
            <a:ext cx="1454150" cy="1263650"/>
          </a:xfrm>
          <a:prstGeom prst="roundRect">
            <a:avLst>
              <a:gd name="adj" fmla="val 5779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46150" y="4550866"/>
            <a:ext cx="304800" cy="5080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/>
        </p:spPr>
      </p:sp>
      <p:sp>
        <p:nvSpPr>
          <p:cNvPr id="15" name="Text 12"/>
          <p:cNvSpPr/>
          <p:nvPr/>
        </p:nvSpPr>
        <p:spPr>
          <a:xfrm>
            <a:off x="946150" y="4652466"/>
            <a:ext cx="12446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Vinculado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46150" y="4901307"/>
            <a:ext cx="124460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Conforme ao declarado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447925" y="4420691"/>
            <a:ext cx="1454150" cy="1263650"/>
          </a:xfrm>
          <a:prstGeom prst="roundRect">
            <a:avLst>
              <a:gd name="adj" fmla="val 5779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578100" y="4550866"/>
            <a:ext cx="304800" cy="50800"/>
          </a:xfrm>
          <a:prstGeom prst="roundRect">
            <a:avLst>
              <a:gd name="adj" fmla="val 50000"/>
            </a:avLst>
          </a:prstGeom>
          <a:solidFill>
            <a:srgbClr val="7A7A7A"/>
          </a:solidFill>
          <a:ln/>
        </p:spPr>
      </p:sp>
      <p:sp>
        <p:nvSpPr>
          <p:cNvPr id="19" name="Text 16"/>
          <p:cNvSpPr/>
          <p:nvPr/>
        </p:nvSpPr>
        <p:spPr>
          <a:xfrm>
            <a:off x="2578100" y="4652466"/>
            <a:ext cx="12446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Ausente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578100" y="4901307"/>
            <a:ext cx="124460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Declarado e não entregue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073525" y="4420691"/>
            <a:ext cx="1454150" cy="1263650"/>
          </a:xfrm>
          <a:prstGeom prst="roundRect">
            <a:avLst>
              <a:gd name="adj" fmla="val 5779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203700" y="4550866"/>
            <a:ext cx="304800" cy="50800"/>
          </a:xfrm>
          <a:prstGeom prst="roundRect">
            <a:avLst>
              <a:gd name="adj" fmla="val 50000"/>
            </a:avLst>
          </a:prstGeom>
          <a:solidFill>
            <a:srgbClr val="B0B0B0"/>
          </a:solidFill>
          <a:ln/>
        </p:spPr>
      </p:sp>
      <p:sp>
        <p:nvSpPr>
          <p:cNvPr id="23" name="Text 20"/>
          <p:cNvSpPr/>
          <p:nvPr/>
        </p:nvSpPr>
        <p:spPr>
          <a:xfrm>
            <a:off x="4203700" y="4652466"/>
            <a:ext cx="12446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Órfão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203700" y="4901307"/>
            <a:ext cx="1244600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Entregue sem ocorrência vinculada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705475" y="4420691"/>
            <a:ext cx="1454150" cy="1263650"/>
          </a:xfrm>
          <a:prstGeom prst="roundRect">
            <a:avLst>
              <a:gd name="adj" fmla="val 5779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835650" y="4550866"/>
            <a:ext cx="304800" cy="5080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</p:sp>
      <p:sp>
        <p:nvSpPr>
          <p:cNvPr id="27" name="Text 24"/>
          <p:cNvSpPr/>
          <p:nvPr/>
        </p:nvSpPr>
        <p:spPr>
          <a:xfrm>
            <a:off x="5835650" y="4652466"/>
            <a:ext cx="12446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Divergente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835650" y="4901307"/>
            <a:ext cx="1244600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Conteúdo distinto do declarado</a:t>
            </a:r>
            <a:endParaRPr lang="en-US" sz="1200" dirty="0"/>
          </a:p>
        </p:txBody>
      </p:sp>
      <p:pic>
        <p:nvPicPr>
          <p:cNvPr id="29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349500" y="2271216"/>
            <a:ext cx="101600" cy="584200"/>
          </a:xfrm>
          <a:prstGeom prst="rect">
            <a:avLst/>
          </a:prstGeom>
        </p:spPr>
      </p:pic>
      <p:pic>
        <p:nvPicPr>
          <p:cNvPr id="30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24500" y="2271216"/>
            <a:ext cx="101600" cy="584200"/>
          </a:xfrm>
          <a:prstGeom prst="rect">
            <a:avLst/>
          </a:prstGeom>
        </p:spPr>
      </p:pic>
      <p:pic>
        <p:nvPicPr>
          <p:cNvPr id="31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349500" y="2753816"/>
            <a:ext cx="3276600" cy="101600"/>
          </a:xfrm>
          <a:prstGeom prst="rect">
            <a:avLst/>
          </a:prstGeom>
        </p:spPr>
      </p:pic>
      <p:pic>
        <p:nvPicPr>
          <p:cNvPr id="32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937000" y="2753816"/>
            <a:ext cx="101600" cy="254000"/>
          </a:xfrm>
          <a:prstGeom prst="rect">
            <a:avLst/>
          </a:prstGeom>
        </p:spPr>
      </p:pic>
      <p:pic>
        <p:nvPicPr>
          <p:cNvPr id="33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937000" y="3731716"/>
            <a:ext cx="101600" cy="584200"/>
          </a:xfrm>
          <a:prstGeom prst="rect">
            <a:avLst/>
          </a:prstGeom>
        </p:spPr>
      </p:pic>
      <p:pic>
        <p:nvPicPr>
          <p:cNvPr id="34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492250" y="4214316"/>
            <a:ext cx="4991100" cy="101600"/>
          </a:xfrm>
          <a:prstGeom prst="rect">
            <a:avLst/>
          </a:prstGeom>
        </p:spPr>
      </p:pic>
      <p:pic>
        <p:nvPicPr>
          <p:cNvPr id="35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492250" y="4214316"/>
            <a:ext cx="101600" cy="254000"/>
          </a:xfrm>
          <a:prstGeom prst="rect">
            <a:avLst/>
          </a:prstGeom>
        </p:spPr>
      </p:pic>
      <p:pic>
        <p:nvPicPr>
          <p:cNvPr id="36" name="Image 8" descr="connector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3124200" y="4214316"/>
            <a:ext cx="101600" cy="254000"/>
          </a:xfrm>
          <a:prstGeom prst="rect">
            <a:avLst/>
          </a:prstGeom>
        </p:spPr>
      </p:pic>
      <p:pic>
        <p:nvPicPr>
          <p:cNvPr id="37" name="Image 9" descr="connector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749800" y="4214316"/>
            <a:ext cx="101600" cy="254000"/>
          </a:xfrm>
          <a:prstGeom prst="rect">
            <a:avLst/>
          </a:prstGeom>
        </p:spPr>
      </p:pic>
      <p:pic>
        <p:nvPicPr>
          <p:cNvPr id="38" name="Image 10" descr="connector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381750" y="4214316"/>
            <a:ext cx="101600" cy="254000"/>
          </a:xfrm>
          <a:prstGeom prst="rect">
            <a:avLst/>
          </a:prstGeom>
        </p:spPr>
      </p:pic>
      <p:sp>
        <p:nvSpPr>
          <p:cNvPr id="39" name="Shape 26"/>
          <p:cNvSpPr/>
          <p:nvPr/>
        </p:nvSpPr>
        <p:spPr>
          <a:xfrm>
            <a:off x="7442200" y="1369516"/>
            <a:ext cx="3937000" cy="4445000"/>
          </a:xfrm>
          <a:prstGeom prst="roundRect">
            <a:avLst>
              <a:gd name="adj" fmla="val 1935"/>
            </a:avLst>
          </a:prstGeom>
          <a:solidFill>
            <a:srgbClr val="141414"/>
          </a:solidFill>
          <a:ln/>
        </p:spPr>
      </p:sp>
      <p:sp>
        <p:nvSpPr>
          <p:cNvPr id="40" name="Text 27"/>
          <p:cNvSpPr/>
          <p:nvPr/>
        </p:nvSpPr>
        <p:spPr>
          <a:xfrm>
            <a:off x="7645400" y="1572716"/>
            <a:ext cx="36365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8A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GUARDA E RASTREABILIDADE</a:t>
            </a:r>
            <a:endParaRPr lang="en-US" sz="1200" dirty="0"/>
          </a:p>
        </p:txBody>
      </p:sp>
      <p:sp>
        <p:nvSpPr>
          <p:cNvPr id="41" name="Text 28"/>
          <p:cNvSpPr/>
          <p:nvPr/>
        </p:nvSpPr>
        <p:spPr>
          <a:xfrm>
            <a:off x="7645400" y="1913037"/>
            <a:ext cx="36365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 bruto imutável</a:t>
            </a:r>
            <a:endParaRPr lang="en-US" sz="1200" dirty="0"/>
          </a:p>
        </p:txBody>
      </p:sp>
      <p:sp>
        <p:nvSpPr>
          <p:cNvPr id="42" name="Text 29"/>
          <p:cNvSpPr/>
          <p:nvPr/>
        </p:nvSpPr>
        <p:spPr>
          <a:xfrm>
            <a:off x="7645400" y="2151757"/>
            <a:ext cx="36365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conteúdo recebido não é sobrescrito.</a:t>
            </a:r>
            <a:endParaRPr lang="en-US" sz="1200" dirty="0"/>
          </a:p>
        </p:txBody>
      </p:sp>
      <p:sp>
        <p:nvSpPr>
          <p:cNvPr id="43" name="Text 30"/>
          <p:cNvSpPr/>
          <p:nvPr/>
        </p:nvSpPr>
        <p:spPr>
          <a:xfrm>
            <a:off x="7645400" y="2492077"/>
            <a:ext cx="36365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Reprocessamento</a:t>
            </a:r>
            <a:endParaRPr lang="en-US" sz="1200" dirty="0"/>
          </a:p>
        </p:txBody>
      </p:sp>
      <p:sp>
        <p:nvSpPr>
          <p:cNvPr id="44" name="Text 31"/>
          <p:cNvSpPr/>
          <p:nvPr/>
        </p:nvSpPr>
        <p:spPr>
          <a:xfrm>
            <a:off x="7645400" y="2730798"/>
            <a:ext cx="363651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Qualquer série pode ser reconstituída a partir do dado bruto.</a:t>
            </a:r>
            <a:endParaRPr lang="en-US" sz="1200" dirty="0"/>
          </a:p>
        </p:txBody>
      </p:sp>
      <p:sp>
        <p:nvSpPr>
          <p:cNvPr id="45" name="Text 32"/>
          <p:cNvSpPr/>
          <p:nvPr/>
        </p:nvSpPr>
        <p:spPr>
          <a:xfrm>
            <a:off x="7645400" y="3284438"/>
            <a:ext cx="36365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de validação</a:t>
            </a:r>
            <a:endParaRPr lang="en-US" sz="1200" dirty="0"/>
          </a:p>
        </p:txBody>
      </p:sp>
      <p:sp>
        <p:nvSpPr>
          <p:cNvPr id="46" name="Text 33"/>
          <p:cNvSpPr/>
          <p:nvPr/>
        </p:nvSpPr>
        <p:spPr>
          <a:xfrm>
            <a:off x="7645400" y="3523159"/>
            <a:ext cx="363651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registro por mensagem, lote, regra aplicada e anexo conciliado.</a:t>
            </a:r>
            <a:endParaRPr lang="en-US" sz="1200" dirty="0"/>
          </a:p>
        </p:txBody>
      </p:sp>
      <p:sp>
        <p:nvSpPr>
          <p:cNvPr id="47" name="Text 34"/>
          <p:cNvSpPr/>
          <p:nvPr/>
        </p:nvSpPr>
        <p:spPr>
          <a:xfrm>
            <a:off x="7645400" y="4076799"/>
            <a:ext cx="36365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Versões registradas</a:t>
            </a:r>
            <a:endParaRPr lang="en-US" sz="1200" dirty="0"/>
          </a:p>
        </p:txBody>
      </p:sp>
      <p:sp>
        <p:nvSpPr>
          <p:cNvPr id="48" name="Text 35"/>
          <p:cNvSpPr/>
          <p:nvPr/>
        </p:nvSpPr>
        <p:spPr>
          <a:xfrm>
            <a:off x="7645400" y="4315520"/>
            <a:ext cx="363651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resultado preserva o contrato, a regra e a referência vigentes.</a:t>
            </a:r>
            <a:endParaRPr lang="en-US" sz="1200" dirty="0"/>
          </a:p>
        </p:txBody>
      </p:sp>
      <p:sp>
        <p:nvSpPr>
          <p:cNvPr id="49" name="Text 3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Imagens, vídeos e relatórios tratados como evidência digital · materialidade para a fiscalização e para os órgãos de controle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ESP">    </p:cNvPr>
          <p:cNvPicPr>
            <a:picLocks noChangeAspect="1"/>
          </p:cNvPicPr>
          <p:nvPr/>
        </p:nvPicPr>
        <p:blipFill>
          <a:blip r:embed="rId1"/>
          <a:srcRect l="0" r="0" t="-140" b="-140"/>
          <a:stretch/>
        </p:blipFill>
        <p:spPr>
          <a:xfrm>
            <a:off x="10369550" y="812800"/>
            <a:ext cx="1009650" cy="279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DEVOLUTIVA AO OPERADOR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203920"/>
            <a:ext cx="9156700" cy="480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Retorno integral sobre cada envio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15975" y="1840012"/>
            <a:ext cx="5187950" cy="1273770"/>
          </a:xfrm>
          <a:prstGeom prst="roundRect">
            <a:avLst>
              <a:gd name="adj" fmla="val 5733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22350" y="2046387"/>
            <a:ext cx="355600" cy="3810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</p:sp>
      <p:sp>
        <p:nvSpPr>
          <p:cNvPr id="7" name="Text 4"/>
          <p:cNvSpPr/>
          <p:nvPr/>
        </p:nvSpPr>
        <p:spPr>
          <a:xfrm>
            <a:off x="1022350" y="2160687"/>
            <a:ext cx="49184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Recibo no envio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22350" y="2465487"/>
            <a:ext cx="4918456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 envio aceito gera recibo assinado, com carimbo de recebimento e impressão digital do conteúdo.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88075" y="1840012"/>
            <a:ext cx="5187950" cy="1273770"/>
          </a:xfrm>
          <a:prstGeom prst="roundRect">
            <a:avLst>
              <a:gd name="adj" fmla="val 5733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94450" y="2046387"/>
            <a:ext cx="355600" cy="3810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</p:sp>
      <p:sp>
        <p:nvSpPr>
          <p:cNvPr id="11" name="Text 8"/>
          <p:cNvSpPr/>
          <p:nvPr/>
        </p:nvSpPr>
        <p:spPr>
          <a:xfrm>
            <a:off x="6394450" y="2160687"/>
            <a:ext cx="49184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Situação por registro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94450" y="2465487"/>
            <a:ext cx="4918456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 por mensagem, por lote e por anexo: o que foi admitido, o que foi recusado e a regra aplicada.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5975" y="3297932"/>
            <a:ext cx="5187950" cy="1273770"/>
          </a:xfrm>
          <a:prstGeom prst="roundRect">
            <a:avLst>
              <a:gd name="adj" fmla="val 5733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22350" y="3504307"/>
            <a:ext cx="355600" cy="3810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</p:sp>
      <p:sp>
        <p:nvSpPr>
          <p:cNvPr id="15" name="Text 12"/>
          <p:cNvSpPr/>
          <p:nvPr/>
        </p:nvSpPr>
        <p:spPr>
          <a:xfrm>
            <a:off x="1022350" y="3618607"/>
            <a:ext cx="49184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Exportação e notificação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22350" y="3923407"/>
            <a:ext cx="4918456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 exportáveis em formato aberto e notificação automática à alteração do estado de um lote.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88075" y="3297932"/>
            <a:ext cx="5187950" cy="1273770"/>
          </a:xfrm>
          <a:prstGeom prst="roundRect">
            <a:avLst>
              <a:gd name="adj" fmla="val 5733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94450" y="3504307"/>
            <a:ext cx="355600" cy="3810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</p:sp>
      <p:sp>
        <p:nvSpPr>
          <p:cNvPr id="19" name="Text 16"/>
          <p:cNvSpPr/>
          <p:nvPr/>
        </p:nvSpPr>
        <p:spPr>
          <a:xfrm>
            <a:off x="6394450" y="3618607"/>
            <a:ext cx="49184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Ambiente de homologação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394450" y="3923407"/>
            <a:ext cx="4918456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operador valida a integração contra as mesmas regras e contratos antes do envio em produção.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Isolamento por operador em todas as consultas · a correção prescinde de intermediação do CCM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ESP">    </p:cNvPr>
          <p:cNvPicPr>
            <a:picLocks noChangeAspect="1"/>
          </p:cNvPicPr>
          <p:nvPr/>
        </p:nvPicPr>
        <p:blipFill>
          <a:blip r:embed="rId1"/>
          <a:srcRect l="0" r="0" t="-140" b="-140"/>
          <a:stretch/>
        </p:blipFill>
        <p:spPr>
          <a:xfrm>
            <a:off x="10369550" y="812800"/>
            <a:ext cx="1009650" cy="279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PREMISSAS E ESCALA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203920"/>
            <a:ext cx="9156700" cy="935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Multimodal por concepção, sob controle da agência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15975" y="2295128"/>
            <a:ext cx="6750050" cy="3346252"/>
          </a:xfrm>
          <a:prstGeom prst="roundRect">
            <a:avLst>
              <a:gd name="adj" fmla="val 2182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47750" y="2501503"/>
            <a:ext cx="647509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Premissas da proposta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52906" y="2819003"/>
            <a:ext cx="6362319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8844" indent="-14884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Concebida para os cinco modais desde a origem; o MITS constitui baseline do rodoviário, não molde da solução.</a:t>
            </a:r>
            <a:endParaRPr lang="en-US" sz="1200" dirty="0"/>
          </a:p>
          <a:p>
            <a:pPr algn="l" marL="148844" indent="-14884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Camada de dados: avaliação interna de viabilidade; se viável, construção interna de ponta a ponta; caso contrário, contratação, possivelmente conjunta com o software multimodal.</a:t>
            </a:r>
            <a:endParaRPr lang="en-US" sz="1200" dirty="0"/>
          </a:p>
          <a:p>
            <a:pPr algn="l" marL="148844" indent="-14884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multimodal contratado para operar sobre a camada de dados; infraestrutura contratada diretamente dos provedores de nuvem.</a:t>
            </a:r>
            <a:endParaRPr lang="en-US" sz="1200" dirty="0"/>
          </a:p>
          <a:p>
            <a:pPr algn="l" marL="148844" indent="-14884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Preferência por software livre; chaves, dados e formatos sob controle da ARTESP; portabilidade exigida em contrato.</a:t>
            </a:r>
            <a:endParaRPr lang="en-US" sz="1200" dirty="0"/>
          </a:p>
          <a:p>
            <a:pPr algn="l" marL="148844" indent="-14884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Implantação por ondas, com coexistência controlada e critérios objetivos de aceite.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823200" y="2291953"/>
            <a:ext cx="3556000" cy="1493441"/>
          </a:xfrm>
          <a:prstGeom prst="roundRect">
            <a:avLst>
              <a:gd name="adj" fmla="val 5102"/>
            </a:avLst>
          </a:prstGeom>
          <a:solidFill>
            <a:srgbClr val="141414"/>
          </a:solidFill>
          <a:ln/>
        </p:spPr>
      </p:sp>
      <p:sp>
        <p:nvSpPr>
          <p:cNvPr id="9" name="Text 6"/>
          <p:cNvSpPr/>
          <p:nvPr/>
        </p:nvSpPr>
        <p:spPr>
          <a:xfrm>
            <a:off x="8026400" y="2495153"/>
            <a:ext cx="324408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1,25 bi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8026400" y="3155553"/>
            <a:ext cx="324408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registros estruturados no legado rodoviário, início de 2026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23200" y="3937794"/>
            <a:ext cx="3556000" cy="1706761"/>
          </a:xfrm>
          <a:prstGeom prst="roundRect">
            <a:avLst>
              <a:gd name="adj" fmla="val 4465"/>
            </a:avLst>
          </a:prstGeom>
          <a:solidFill>
            <a:srgbClr val="141414"/>
          </a:solidFill>
          <a:ln/>
        </p:spPr>
      </p:sp>
      <p:sp>
        <p:nvSpPr>
          <p:cNvPr id="12" name="Text 9"/>
          <p:cNvSpPr/>
          <p:nvPr/>
        </p:nvSpPr>
        <p:spPr>
          <a:xfrm>
            <a:off x="8026400" y="4140994"/>
            <a:ext cx="324408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282 GB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8026400" y="4801394"/>
            <a:ext cx="3244088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dados estruturados — referência mínima de capacidade; demais modais dimensionados por envelope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Volumetria apurada nos levantamentos preparatórios do proponente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ESP">    </p:cNvPr>
          <p:cNvPicPr>
            <a:picLocks noChangeAspect="1"/>
          </p:cNvPicPr>
          <p:nvPr/>
        </p:nvPicPr>
        <p:blipFill>
          <a:blip r:embed="rId1"/>
          <a:srcRect l="0" r="0" t="-140" b="-140"/>
          <a:stretch/>
        </p:blipFill>
        <p:spPr>
          <a:xfrm>
            <a:off x="10369550" y="812800"/>
            <a:ext cx="1009650" cy="279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3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150" kern="0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 03</a:t>
            </a:r>
            <a:endParaRPr lang="en-US" sz="1196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198860"/>
            <a:ext cx="9156700" cy="913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06"/>
              </a:lnSpc>
              <a:buNone/>
            </a:pPr>
            <a:r>
              <a:rPr lang="en-US" sz="3130" b="1" i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Verificação independente dos dados na origem</a:t>
            </a:r>
            <a:endParaRPr lang="en-US" sz="3130" dirty="0"/>
          </a:p>
        </p:txBody>
      </p:sp>
      <p:sp>
        <p:nvSpPr>
          <p:cNvPr id="5" name="Text 2"/>
          <p:cNvSpPr/>
          <p:nvPr/>
        </p:nvSpPr>
        <p:spPr>
          <a:xfrm>
            <a:off x="812800" y="2265065"/>
            <a:ext cx="10203180" cy="780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92"/>
              </a:lnSpc>
              <a:buNone/>
            </a:pPr>
            <a:r>
              <a:rPr lang="en-US" sz="1374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Contratar consultoria especializada para avaliar a viabilidade e comparar modelos de verificação independente dos dados das concessionárias — coleta direta nos equipamentos por protocolos ou hardware, auditorias periódicas ou alternativas que venha a propor — e recomendar o mais adequado à agência.</a:t>
            </a:r>
            <a:endParaRPr lang="en-US" sz="1374" dirty="0"/>
          </a:p>
        </p:txBody>
      </p:sp>
      <p:sp>
        <p:nvSpPr>
          <p:cNvPr id="6" name="Shape 3"/>
          <p:cNvSpPr/>
          <p:nvPr/>
        </p:nvSpPr>
        <p:spPr>
          <a:xfrm>
            <a:off x="815975" y="3200797"/>
            <a:ext cx="3380284" cy="2234704"/>
          </a:xfrm>
          <a:prstGeom prst="roundRect">
            <a:avLst>
              <a:gd name="adj" fmla="val 3268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2350" y="3407172"/>
            <a:ext cx="305656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2350" y="3874492"/>
            <a:ext cx="30565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Diagnosticar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22350" y="4179292"/>
            <a:ext cx="3056560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Mapear equipamentos, interfaces, bases de origem e condições de acesso ao dado.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05809" y="3200797"/>
            <a:ext cx="3380284" cy="2234704"/>
          </a:xfrm>
          <a:prstGeom prst="roundRect">
            <a:avLst>
              <a:gd name="adj" fmla="val 3268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12184" y="3407172"/>
            <a:ext cx="3056560" cy="404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22"/>
              </a:lnSpc>
              <a:buNone/>
            </a:pPr>
            <a:r>
              <a:rPr lang="en-US" sz="2159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159" dirty="0"/>
          </a:p>
        </p:txBody>
      </p:sp>
      <p:sp>
        <p:nvSpPr>
          <p:cNvPr id="12" name="Text 9"/>
          <p:cNvSpPr/>
          <p:nvPr/>
        </p:nvSpPr>
        <p:spPr>
          <a:xfrm>
            <a:off x="4612184" y="3861991"/>
            <a:ext cx="3056560" cy="246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477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Comparar</a:t>
            </a:r>
            <a:endParaRPr lang="en-US" sz="1477" dirty="0"/>
          </a:p>
        </p:txBody>
      </p:sp>
      <p:sp>
        <p:nvSpPr>
          <p:cNvPr id="13" name="Text 10"/>
          <p:cNvSpPr/>
          <p:nvPr/>
        </p:nvSpPr>
        <p:spPr>
          <a:xfrm>
            <a:off x="4612184" y="4159548"/>
            <a:ext cx="3056560" cy="1094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159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Viabilidade técnica, econômica e operacional de cada modelo: cobertura, confiabilidade da medição, rastreabilidade, custo e impacto sobre as concessionárias.</a:t>
            </a:r>
            <a:endParaRPr lang="en-US" sz="1159" dirty="0"/>
          </a:p>
        </p:txBody>
      </p:sp>
      <p:sp>
        <p:nvSpPr>
          <p:cNvPr id="14" name="Shape 11"/>
          <p:cNvSpPr/>
          <p:nvPr/>
        </p:nvSpPr>
        <p:spPr>
          <a:xfrm>
            <a:off x="7995642" y="3200797"/>
            <a:ext cx="3380284" cy="2234704"/>
          </a:xfrm>
          <a:prstGeom prst="roundRect">
            <a:avLst>
              <a:gd name="adj" fmla="val 3268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02017" y="3407172"/>
            <a:ext cx="305656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202017" y="3874492"/>
            <a:ext cx="30565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Recomendar e demonstrar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02017" y="4179292"/>
            <a:ext cx="3056560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recomendado, prova de conceito, responsabilidades e custo de implantação.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2800" y="5616476"/>
            <a:ext cx="10464800" cy="250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camada de dados verifica o que é </a:t>
            </a:r>
            <a:r>
              <a:rPr lang="en-US" sz="1300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enviado</a:t>
            </a:r>
            <a:r>
              <a:rPr lang="en-US" sz="13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esta frente define como verificar o que é </a:t>
            </a:r>
            <a:r>
              <a:rPr lang="en-US" sz="1300" b="1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medido</a:t>
            </a:r>
            <a:r>
              <a:rPr lang="en-US" sz="13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Proposta · escopo e entregáveis a detalhar na fase de planejamento da contratação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ESP">    </p:cNvPr>
          <p:cNvPicPr>
            <a:picLocks noChangeAspect="1"/>
          </p:cNvPicPr>
          <p:nvPr/>
        </p:nvPicPr>
        <p:blipFill>
          <a:blip r:embed="rId1"/>
          <a:srcRect l="0" r="0" t="-140" b="-140"/>
          <a:stretch/>
        </p:blipFill>
        <p:spPr>
          <a:xfrm>
            <a:off x="10369550" y="812800"/>
            <a:ext cx="1009650" cy="279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 04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203920"/>
            <a:ext cx="9156700" cy="480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Escritório de projetos na SUTID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12800" y="1836837"/>
            <a:ext cx="10203180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Apoiar a Superintendência de Tecnologia da Informação na instituição do escritório de projetos, com plataforma de gestão de projetos em software livre, conferindo visibilidade do portfólio, dos prazos, dos responsáveis e das decisões à superintendência e à direção.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15975" y="2791123"/>
            <a:ext cx="3380284" cy="1715691"/>
          </a:xfrm>
          <a:prstGeom prst="roundRect">
            <a:avLst>
              <a:gd name="adj" fmla="val 4256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22350" y="2997498"/>
            <a:ext cx="355600" cy="3810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</p:sp>
      <p:sp>
        <p:nvSpPr>
          <p:cNvPr id="8" name="Text 5"/>
          <p:cNvSpPr/>
          <p:nvPr/>
        </p:nvSpPr>
        <p:spPr>
          <a:xfrm>
            <a:off x="1022350" y="3111798"/>
            <a:ext cx="30565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Portfólio único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22350" y="3416598"/>
            <a:ext cx="3056560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os projetos de tecnologia registrados em um só instrumento, com situação, responsável e dependências.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05809" y="2791123"/>
            <a:ext cx="3380284" cy="1715691"/>
          </a:xfrm>
          <a:prstGeom prst="roundRect">
            <a:avLst>
              <a:gd name="adj" fmla="val 4256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2184" y="2997498"/>
            <a:ext cx="355600" cy="3810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</p:sp>
      <p:sp>
        <p:nvSpPr>
          <p:cNvPr id="12" name="Text 9"/>
          <p:cNvSpPr/>
          <p:nvPr/>
        </p:nvSpPr>
        <p:spPr>
          <a:xfrm>
            <a:off x="4612184" y="3111798"/>
            <a:ext cx="30565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Acompanhamento contínuo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612184" y="3416598"/>
            <a:ext cx="3056560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Prazos, marcos, riscos e decisões registrados no momento em que ocorrem, com histórico preservado.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995642" y="2791123"/>
            <a:ext cx="3380284" cy="1715691"/>
          </a:xfrm>
          <a:prstGeom prst="roundRect">
            <a:avLst>
              <a:gd name="adj" fmla="val 4256"/>
            </a:avLst>
          </a:prstGeom>
          <a:solidFill>
            <a:srgbClr val="F4F4F4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02017" y="2997498"/>
            <a:ext cx="355600" cy="3810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</p:sp>
      <p:sp>
        <p:nvSpPr>
          <p:cNvPr id="16" name="Text 13"/>
          <p:cNvSpPr/>
          <p:nvPr/>
        </p:nvSpPr>
        <p:spPr>
          <a:xfrm>
            <a:off x="8202017" y="3111798"/>
            <a:ext cx="30565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Transparência interna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02017" y="3416598"/>
            <a:ext cx="3056560" cy="909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superintendência e a direção acompanham o andamento sem depender de relatórios elaborados manualmente.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2800" y="4687788"/>
            <a:ext cx="10464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nesse instrumento que as demais frentes deste plano passariam a ser acompanhadas.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Proposta · plataforma em software livre, sem custo de licença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ESP">    </p:cNvPr>
          <p:cNvPicPr>
            <a:picLocks noChangeAspect="1"/>
          </p:cNvPicPr>
          <p:nvPr/>
        </p:nvPicPr>
        <p:blipFill>
          <a:blip r:embed="rId1"/>
          <a:srcRect l="0" r="0" t="-140" b="-140"/>
          <a:stretch/>
        </p:blipFill>
        <p:spPr>
          <a:xfrm>
            <a:off x="10369550" y="812800"/>
            <a:ext cx="1009650" cy="2794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812800"/>
            <a:ext cx="9156700" cy="480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Articulação das frentes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5975" y="1372691"/>
            <a:ext cx="1898650" cy="19621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58850" y="1515566"/>
            <a:ext cx="1134170" cy="289520"/>
          </a:xfrm>
          <a:prstGeom prst="roundRect">
            <a:avLst>
              <a:gd name="adj" fmla="val 13160"/>
            </a:avLst>
          </a:prstGeom>
          <a:solidFill>
            <a:srgbClr val="14141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 CURSO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58850" y="1881287"/>
            <a:ext cx="16637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Equipe e operação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58850" y="2384127"/>
            <a:ext cx="16637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Apoio operacional contratado, em execução.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981325" y="1372691"/>
            <a:ext cx="1898650" cy="19621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D32F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24200" y="1515566"/>
            <a:ext cx="1652389" cy="289520"/>
          </a:xfrm>
          <a:prstGeom prst="roundRect">
            <a:avLst>
              <a:gd name="adj" fmla="val 13160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PLANEJAMENTO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124200" y="1881287"/>
            <a:ext cx="16637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Plataforma Multimodal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124200" y="2384127"/>
            <a:ext cx="16637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Camada de dados própria e software contratado.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146675" y="1372691"/>
            <a:ext cx="1898650" cy="19621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289550" y="1515566"/>
            <a:ext cx="1158677" cy="283071"/>
          </a:xfrm>
          <a:prstGeom prst="roundRect">
            <a:avLst>
              <a:gd name="adj" fmla="val 13460"/>
            </a:avLst>
          </a:prstGeom>
          <a:solidFill>
            <a:srgbClr val="FDECEA"/>
          </a:solidFill>
          <a:ln/>
        </p:spPr>
      </p:sp>
      <p:sp>
        <p:nvSpPr>
          <p:cNvPr id="14" name="Text 11"/>
          <p:cNvSpPr/>
          <p:nvPr/>
        </p:nvSpPr>
        <p:spPr>
          <a:xfrm>
            <a:off x="5378450" y="1553666"/>
            <a:ext cx="1031677" cy="232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100" kern="0" dirty="0">
                <a:solidFill>
                  <a:srgbClr val="B71C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PROPOSTA</a:t>
            </a:r>
            <a:endParaRPr lang="en-US" sz="1196" dirty="0"/>
          </a:p>
        </p:txBody>
      </p:sp>
      <p:sp>
        <p:nvSpPr>
          <p:cNvPr id="15" name="Text 12"/>
          <p:cNvSpPr/>
          <p:nvPr/>
        </p:nvSpPr>
        <p:spPr>
          <a:xfrm>
            <a:off x="5289550" y="1874838"/>
            <a:ext cx="1663700" cy="439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33"/>
              </a:lnSpc>
              <a:buNone/>
            </a:pPr>
            <a:r>
              <a:rPr lang="en-US" sz="1361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Verificação na origem</a:t>
            </a:r>
            <a:endParaRPr lang="en-US" sz="1361" dirty="0"/>
          </a:p>
        </p:txBody>
      </p:sp>
      <p:sp>
        <p:nvSpPr>
          <p:cNvPr id="16" name="Text 13"/>
          <p:cNvSpPr/>
          <p:nvPr/>
        </p:nvSpPr>
        <p:spPr>
          <a:xfrm>
            <a:off x="5289550" y="2364680"/>
            <a:ext cx="1663700" cy="852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163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Consultoria: viabilidade e comparação de modelos.</a:t>
            </a:r>
            <a:endParaRPr lang="en-US" sz="1163" dirty="0"/>
          </a:p>
        </p:txBody>
      </p:sp>
      <p:sp>
        <p:nvSpPr>
          <p:cNvPr id="17" name="Shape 14"/>
          <p:cNvSpPr/>
          <p:nvPr/>
        </p:nvSpPr>
        <p:spPr>
          <a:xfrm>
            <a:off x="7312025" y="1372691"/>
            <a:ext cx="1898650" cy="19621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54900" y="1515566"/>
            <a:ext cx="1553766" cy="289520"/>
          </a:xfrm>
          <a:prstGeom prst="roundRect">
            <a:avLst>
              <a:gd name="adj" fmla="val 13160"/>
            </a:avLst>
          </a:prstGeom>
          <a:solidFill>
            <a:srgbClr val="14141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 CONCLUÍDO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454900" y="1881287"/>
            <a:ext cx="1663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Reforma do CCM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454900" y="2170807"/>
            <a:ext cx="16637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Infraestrutura física e tecnológica.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477375" y="1372691"/>
            <a:ext cx="1898650" cy="19621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20250" y="1515566"/>
            <a:ext cx="1162149" cy="289520"/>
          </a:xfrm>
          <a:prstGeom prst="roundRect">
            <a:avLst>
              <a:gd name="adj" fmla="val 13160"/>
            </a:avLst>
          </a:prstGeom>
          <a:solidFill>
            <a:srgbClr val="FDECE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71C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PROPOSTA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620250" y="1881287"/>
            <a:ext cx="16637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Escritório de projetos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620250" y="2384127"/>
            <a:ext cx="16637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Acompanhamento de todas as frentes.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12800" y="4671516"/>
            <a:ext cx="10566400" cy="1143000"/>
          </a:xfrm>
          <a:prstGeom prst="roundRect">
            <a:avLst>
              <a:gd name="adj" fmla="val 6667"/>
            </a:avLst>
          </a:prstGeom>
          <a:solidFill>
            <a:srgbClr val="141414"/>
          </a:solidFill>
          <a:ln/>
        </p:spPr>
      </p:sp>
      <p:sp>
        <p:nvSpPr>
          <p:cNvPr id="26" name="Text 23"/>
          <p:cNvSpPr/>
          <p:nvPr/>
        </p:nvSpPr>
        <p:spPr>
          <a:xfrm>
            <a:off x="1016000" y="4874716"/>
            <a:ext cx="1046480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CCM como gerência responsável pelo ciclo do dado da agência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016000" y="5225157"/>
            <a:ext cx="10464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frente em execução, uma em planejamento e três propostas, acompanhadas com transparência pela SUTID.</a:t>
            </a:r>
            <a:endParaRPr lang="en-US" sz="1300" dirty="0"/>
          </a:p>
        </p:txBody>
      </p:sp>
      <p:pic>
        <p:nvPicPr>
          <p:cNvPr id="28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714500" y="3287216"/>
            <a:ext cx="101600" cy="1282700"/>
          </a:xfrm>
          <a:prstGeom prst="rect">
            <a:avLst/>
          </a:prstGeom>
        </p:spPr>
      </p:pic>
      <p:pic>
        <p:nvPicPr>
          <p:cNvPr id="29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79850" y="3287216"/>
            <a:ext cx="101600" cy="1282700"/>
          </a:xfrm>
          <a:prstGeom prst="rect">
            <a:avLst/>
          </a:prstGeom>
        </p:spPr>
      </p:pic>
      <p:pic>
        <p:nvPicPr>
          <p:cNvPr id="30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045200" y="3287216"/>
            <a:ext cx="101600" cy="1282700"/>
          </a:xfrm>
          <a:prstGeom prst="rect">
            <a:avLst/>
          </a:prstGeom>
        </p:spPr>
      </p:pic>
      <p:pic>
        <p:nvPicPr>
          <p:cNvPr id="31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210550" y="3287216"/>
            <a:ext cx="101600" cy="1282700"/>
          </a:xfrm>
          <a:prstGeom prst="rect">
            <a:avLst/>
          </a:prstGeom>
        </p:spPr>
      </p:pic>
      <p:pic>
        <p:nvPicPr>
          <p:cNvPr id="32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375900" y="3287216"/>
            <a:ext cx="101600" cy="1282700"/>
          </a:xfrm>
          <a:prstGeom prst="rect">
            <a:avLst/>
          </a:prstGeom>
        </p:spPr>
      </p:pic>
      <p:pic>
        <p:nvPicPr>
          <p:cNvPr id="33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714500" y="4468316"/>
            <a:ext cx="8763000" cy="101600"/>
          </a:xfrm>
          <a:prstGeom prst="rect">
            <a:avLst/>
          </a:prstGeom>
        </p:spPr>
      </p:pic>
      <p:pic>
        <p:nvPicPr>
          <p:cNvPr id="34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045200" y="4468316"/>
            <a:ext cx="101600" cy="25400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Prioridades, sequência e recursos a pactuar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ESP">    </p:cNvPr>
          <p:cNvPicPr>
            <a:picLocks noChangeAspect="1"/>
          </p:cNvPicPr>
          <p:nvPr/>
        </p:nvPicPr>
        <p:blipFill>
          <a:blip r:embed="rId1"/>
          <a:srcRect l="0" r="0" t="-140" b="-140"/>
          <a:stretch/>
        </p:blipFill>
        <p:spPr>
          <a:xfrm>
            <a:off x="10369550" y="812800"/>
            <a:ext cx="1009650" cy="279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SE PEDE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178520"/>
            <a:ext cx="9156700" cy="480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Cinco decisões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15975" y="1789212"/>
            <a:ext cx="10560050" cy="712391"/>
          </a:xfrm>
          <a:prstGeom prst="roundRect">
            <a:avLst>
              <a:gd name="adj" fmla="val 10251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22350" y="1967607"/>
            <a:ext cx="49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670050" y="1919387"/>
            <a:ext cx="97845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Mandato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70050" y="2158107"/>
            <a:ext cx="97845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Reconhecer o CCM como a gerência responsável pelo ciclo do dado da agência.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15975" y="2596852"/>
            <a:ext cx="10560050" cy="712391"/>
          </a:xfrm>
          <a:prstGeom prst="roundRect">
            <a:avLst>
              <a:gd name="adj" fmla="val 10251"/>
            </a:avLst>
          </a:prstGeom>
          <a:solidFill>
            <a:srgbClr val="FFFFFF"/>
          </a:solidFill>
          <a:ln w="6350">
            <a:solidFill>
              <a:srgbClr val="D32F2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2350" y="2775248"/>
            <a:ext cx="49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670050" y="2727027"/>
            <a:ext cx="97845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Plataforma Multimodal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670050" y="2965748"/>
            <a:ext cx="97845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Autorizar a avaliação interna de viabilidade da camada de dados e a modelagem da contratação do software multimodal.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5975" y="3404493"/>
            <a:ext cx="10560050" cy="712391"/>
          </a:xfrm>
          <a:prstGeom prst="roundRect">
            <a:avLst>
              <a:gd name="adj" fmla="val 10251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22350" y="3582888"/>
            <a:ext cx="49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670050" y="3534668"/>
            <a:ext cx="97845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Sequência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670050" y="3773388"/>
            <a:ext cx="97845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Definir a ordem entre plataforma, reforma do centro e consultoria de verificação na origem.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15975" y="4212134"/>
            <a:ext cx="10560050" cy="712391"/>
          </a:xfrm>
          <a:prstGeom prst="roundRect">
            <a:avLst>
              <a:gd name="adj" fmla="val 10251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22350" y="4390529"/>
            <a:ext cx="49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670050" y="4342309"/>
            <a:ext cx="97845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Escritório de projetos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670050" y="4581029"/>
            <a:ext cx="97845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Autorizar o apoio à SUTID na instituição do escritório e da plataforma de gestão em software livre.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15975" y="5019774"/>
            <a:ext cx="10560050" cy="712391"/>
          </a:xfrm>
          <a:prstGeom prst="roundRect">
            <a:avLst>
              <a:gd name="adj" fmla="val 10251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22350" y="5198170"/>
            <a:ext cx="49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D3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670050" y="5149949"/>
            <a:ext cx="97845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Recursos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670050" y="5388670"/>
            <a:ext cx="97845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Dimensionar equipe, infraestrutura e as contratações remanescentes.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Decisões submetidas à apreciação · outubro de 2026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ARTESP">    </p:cNvPr>
          <p:cNvPicPr>
            <a:picLocks noChangeAspect="1"/>
          </p:cNvPicPr>
          <p:nvPr/>
        </p:nvPicPr>
        <p:blipFill>
          <a:blip r:embed="rId2"/>
          <a:srcRect l="-17" r="-17" t="0" b="0"/>
          <a:stretch/>
        </p:blipFill>
        <p:spPr>
          <a:xfrm>
            <a:off x="812800" y="812800"/>
            <a:ext cx="1841500" cy="50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1169888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FF66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PROPOSTA PARA APRECIAÇÃO</a:t>
            </a:r>
            <a:endParaRPr lang="en-US" sz="1400" dirty="0"/>
          </a:p>
        </p:txBody>
      </p:sp>
      <p:sp>
        <p:nvSpPr>
          <p:cNvPr id="5" name="Text 1"/>
          <p:cNvSpPr/>
          <p:nvPr>
            <p:ph type="title"/>
          </p:nvPr>
        </p:nvSpPr>
        <p:spPr>
          <a:xfrm>
            <a:off x="812800" y="1647329"/>
            <a:ext cx="9810750" cy="2798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Construído com software livre.</a:t>
            </a:r>
            <a:endParaRPr lang="en-US" sz="5200" dirty="0"/>
          </a:p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Proposto sobre o que já opera.</a:t>
            </a:r>
            <a:endParaRPr lang="en-US" sz="5200" dirty="0"/>
          </a:p>
        </p:txBody>
      </p:sp>
      <p:sp>
        <p:nvSpPr>
          <p:cNvPr id="6" name="Shape 2"/>
          <p:cNvSpPr/>
          <p:nvPr/>
        </p:nvSpPr>
        <p:spPr>
          <a:xfrm>
            <a:off x="812800" y="4649291"/>
            <a:ext cx="1270000" cy="3810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</p:sp>
      <p:sp>
        <p:nvSpPr>
          <p:cNvPr id="7" name="Text 3"/>
          <p:cNvSpPr/>
          <p:nvPr/>
        </p:nvSpPr>
        <p:spPr>
          <a:xfrm>
            <a:off x="812800" y="4915991"/>
            <a:ext cx="941832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FC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Mandato · Plataforma Multimodal de Dados Regulatórios · verificação na origem · reforma do CCM · escritório de projetos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ARTESP · Centro de Controle Multimodal · versão de trabalho, outubro de 2026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TESP">    </p:cNvPr>
          <p:cNvPicPr>
            <a:picLocks noChangeAspect="1"/>
          </p:cNvPicPr>
          <p:nvPr/>
        </p:nvPicPr>
        <p:blipFill>
          <a:blip r:embed="rId1"/>
          <a:srcRect l="0" r="0" t="-140" b="-140"/>
          <a:stretch/>
        </p:blipFill>
        <p:spPr>
          <a:xfrm>
            <a:off x="10369550" y="812800"/>
            <a:ext cx="1009650" cy="2794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812800"/>
            <a:ext cx="9156700" cy="480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Arquitetura em quatro níveis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15975" y="1753691"/>
            <a:ext cx="1771650" cy="2660650"/>
          </a:xfrm>
          <a:prstGeom prst="roundRect">
            <a:avLst>
              <a:gd name="adj" fmla="val 4122"/>
            </a:avLst>
          </a:prstGeom>
          <a:solidFill>
            <a:srgbClr val="FFFFFF"/>
          </a:solidFill>
          <a:ln w="6350">
            <a:solidFill>
              <a:srgbClr val="D32F2F"/>
            </a:solidFill>
            <a:prstDash val="dash"/>
          </a:ln>
        </p:spPr>
      </p:sp>
      <p:sp>
        <p:nvSpPr>
          <p:cNvPr id="5" name="Text 2"/>
          <p:cNvSpPr/>
          <p:nvPr/>
        </p:nvSpPr>
        <p:spPr>
          <a:xfrm>
            <a:off x="971550" y="1909266"/>
            <a:ext cx="1090613" cy="263327"/>
          </a:xfrm>
          <a:prstGeom prst="roundRect">
            <a:avLst>
              <a:gd name="adj" fmla="val 14469"/>
            </a:avLst>
          </a:prstGeom>
          <a:solidFill>
            <a:srgbClr val="FDECE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spc="100" kern="0" dirty="0">
                <a:solidFill>
                  <a:srgbClr val="B71C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ESTUDAR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71550" y="2248793"/>
            <a:ext cx="1511300" cy="199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46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Campo</a:t>
            </a:r>
            <a:endParaRPr lang="en-US" sz="1146" dirty="0"/>
          </a:p>
        </p:txBody>
      </p:sp>
      <p:sp>
        <p:nvSpPr>
          <p:cNvPr id="7" name="Text 4"/>
          <p:cNvSpPr/>
          <p:nvPr/>
        </p:nvSpPr>
        <p:spPr>
          <a:xfrm>
            <a:off x="971550" y="2498725"/>
            <a:ext cx="1511300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Equipamentos instalados pelas concessionárias.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71550" y="3136205"/>
            <a:ext cx="1511300" cy="1147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Verificação independente contra violação ou fraude do dado enviado — objeto da consultoria.</a:t>
            </a:r>
            <a:endParaRPr lang="en-US" sz="1121" dirty="0"/>
          </a:p>
        </p:txBody>
      </p:sp>
      <p:sp>
        <p:nvSpPr>
          <p:cNvPr id="9" name="Shape 6"/>
          <p:cNvSpPr/>
          <p:nvPr/>
        </p:nvSpPr>
        <p:spPr>
          <a:xfrm>
            <a:off x="2873375" y="1753691"/>
            <a:ext cx="1771650" cy="2660650"/>
          </a:xfrm>
          <a:prstGeom prst="roundRect">
            <a:avLst>
              <a:gd name="adj" fmla="val 4122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28950" y="1909266"/>
            <a:ext cx="907653" cy="289520"/>
          </a:xfrm>
          <a:prstGeom prst="roundRect">
            <a:avLst>
              <a:gd name="adj" fmla="val 13160"/>
            </a:avLst>
          </a:prstGeom>
          <a:solidFill>
            <a:srgbClr val="E3E3E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ORIGEM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028950" y="2274987"/>
            <a:ext cx="15113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Operadores regulados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028950" y="2747268"/>
            <a:ext cx="1511300" cy="1305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Sistemas das concessionárias dos cinco modais, que transmitem eventos, arquivos e evidências.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933950" y="1756866"/>
            <a:ext cx="2654300" cy="26543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92700" y="1915616"/>
            <a:ext cx="878384" cy="289520"/>
          </a:xfrm>
          <a:prstGeom prst="roundRect">
            <a:avLst>
              <a:gd name="adj" fmla="val 13160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ARTESP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92700" y="2281337"/>
            <a:ext cx="240690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Camada de dados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92700" y="2555577"/>
            <a:ext cx="2406904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Recepção, validação, guarda, evidência e devolutiva. O dado pertence à agência; sem dependência de fornecedor.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92700" y="3485059"/>
            <a:ext cx="2406904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Avaliação interna de viabilidade; se viável, construção interna; caso contrário, contratação.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877175" y="1753691"/>
            <a:ext cx="1771650" cy="2660650"/>
          </a:xfrm>
          <a:prstGeom prst="roundRect">
            <a:avLst>
              <a:gd name="adj" fmla="val 4122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32750" y="1909266"/>
            <a:ext cx="1427659" cy="289520"/>
          </a:xfrm>
          <a:prstGeom prst="roundRect">
            <a:avLst>
              <a:gd name="adj" fmla="val 13160"/>
            </a:avLst>
          </a:prstGeom>
          <a:solidFill>
            <a:srgbClr val="14141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CONTRATADO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032750" y="2274987"/>
            <a:ext cx="15113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Software multimodal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032750" y="2747268"/>
            <a:ext cx="1511300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Operação, fiscalização e análise sobre a camada de dados, sem posse do dado.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934575" y="1753691"/>
            <a:ext cx="1441450" cy="2660650"/>
          </a:xfrm>
          <a:prstGeom prst="roundRect">
            <a:avLst>
              <a:gd name="adj" fmla="val 5066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90150" y="1909266"/>
            <a:ext cx="560388" cy="289520"/>
          </a:xfrm>
          <a:prstGeom prst="roundRect">
            <a:avLst>
              <a:gd name="adj" fmla="val 13160"/>
            </a:avLst>
          </a:prstGeom>
          <a:solidFill>
            <a:srgbClr val="E3E3E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USO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090150" y="2274987"/>
            <a:ext cx="11811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Consumo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090150" y="2549227"/>
            <a:ext cx="1181100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Fiscalização, painéis, transparência, órgãos de controle.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930775" y="4801691"/>
            <a:ext cx="4718050" cy="1009650"/>
          </a:xfrm>
          <a:prstGeom prst="roundRect">
            <a:avLst>
              <a:gd name="adj" fmla="val 7233"/>
            </a:avLst>
          </a:prstGeom>
          <a:solidFill>
            <a:srgbClr val="FFFFFF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11750" y="4975126"/>
            <a:ext cx="2833161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Infraestrutura em nuvem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11750" y="5211266"/>
            <a:ext cx="283316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Contratos diretos com os provedores, sem intermediário.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040191" y="5161756"/>
            <a:ext cx="1427659" cy="289520"/>
          </a:xfrm>
          <a:prstGeom prst="roundRect">
            <a:avLst>
              <a:gd name="adj" fmla="val 13160"/>
            </a:avLst>
          </a:prstGeom>
          <a:solidFill>
            <a:srgbClr val="14141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CONTRATADO</a:t>
            </a:r>
            <a:endParaRPr lang="en-US" sz="1200" dirty="0"/>
          </a:p>
        </p:txBody>
      </p:sp>
      <p:pic>
        <p:nvPicPr>
          <p:cNvPr id="30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40000" y="3033216"/>
            <a:ext cx="381000" cy="101600"/>
          </a:xfrm>
          <a:prstGeom prst="rect">
            <a:avLst/>
          </a:prstGeom>
        </p:spPr>
      </p:pic>
      <p:pic>
        <p:nvPicPr>
          <p:cNvPr id="31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97400" y="3033216"/>
            <a:ext cx="381000" cy="101600"/>
          </a:xfrm>
          <a:prstGeom prst="rect">
            <a:avLst/>
          </a:prstGeom>
        </p:spPr>
      </p:pic>
      <p:pic>
        <p:nvPicPr>
          <p:cNvPr id="32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543800" y="3033216"/>
            <a:ext cx="381000" cy="101600"/>
          </a:xfrm>
          <a:prstGeom prst="rect">
            <a:avLst/>
          </a:prstGeom>
        </p:spPr>
      </p:pic>
      <p:pic>
        <p:nvPicPr>
          <p:cNvPr id="33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601200" y="3033216"/>
            <a:ext cx="381000" cy="101600"/>
          </a:xfrm>
          <a:prstGeom prst="rect">
            <a:avLst/>
          </a:prstGeom>
        </p:spPr>
      </p:pic>
      <p:pic>
        <p:nvPicPr>
          <p:cNvPr id="34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210300" y="4366716"/>
            <a:ext cx="101600" cy="482600"/>
          </a:xfrm>
          <a:prstGeom prst="rect">
            <a:avLst/>
          </a:prstGeom>
        </p:spPr>
      </p:pic>
      <p:pic>
        <p:nvPicPr>
          <p:cNvPr id="35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712200" y="4366716"/>
            <a:ext cx="101600" cy="482600"/>
          </a:xfrm>
          <a:prstGeom prst="rect">
            <a:avLst/>
          </a:prstGeom>
        </p:spPr>
      </p:pic>
      <p:pic>
        <p:nvPicPr>
          <p:cNvPr id="36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651000" y="4366716"/>
            <a:ext cx="101600" cy="292100"/>
          </a:xfrm>
          <a:prstGeom prst="rect">
            <a:avLst/>
          </a:prstGeom>
        </p:spPr>
      </p:pic>
      <p:pic>
        <p:nvPicPr>
          <p:cNvPr id="37" name="Image 8" descr="connector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651000" y="4557216"/>
            <a:ext cx="3657600" cy="101600"/>
          </a:xfrm>
          <a:prstGeom prst="rect">
            <a:avLst/>
          </a:prstGeom>
        </p:spPr>
      </p:pic>
      <p:pic>
        <p:nvPicPr>
          <p:cNvPr id="38" name="Image 9" descr="connector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5207000" y="4366716"/>
            <a:ext cx="101600" cy="29210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Anexo · linha tracejada: confronto entre o dado medido em campo e o dado enviado · desenho do proponente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no Estratégico do CCM">
  <a:themeElements>
    <a:clrScheme name="Plano Estratégico do CCM">
      <a:dk1>
        <a:srgbClr val="141414"/>
      </a:dk1>
      <a:lt1>
        <a:srgbClr val="F4F4F4"/>
      </a:lt1>
      <a:dk2>
        <a:srgbClr val="4C4C4C"/>
      </a:dk2>
      <a:lt2>
        <a:srgbClr val="DEDEDE"/>
      </a:lt2>
      <a:accent1>
        <a:srgbClr val="D32F2F"/>
      </a:accent1>
      <a:accent2>
        <a:srgbClr val="FF6659"/>
      </a:accent2>
      <a:accent3>
        <a:srgbClr val="B71C1C"/>
      </a:accent3>
      <a:accent4>
        <a:srgbClr val="FFD6D6"/>
      </a:accent4>
      <a:accent5>
        <a:srgbClr val="FF8A80"/>
      </a:accent5>
      <a:accent6>
        <a:srgbClr val="C62828"/>
      </a:accent6>
      <a:hlink>
        <a:srgbClr val="0563C1"/>
      </a:hlink>
      <a:folHlink>
        <a:srgbClr val="954F72"/>
      </a:folHlink>
    </a:clrScheme>
    <a:fontScheme name="Plano Estratégico do CCM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Estratégico do CCM</dc:title>
  <dc:subject/>
  <dc:creator/>
  <cp:lastModifiedBy/>
  <cp:revision>1</cp:revision>
  <dcterms:created xsi:type="dcterms:W3CDTF">2026-10-02T22:38:43Z</dcterms:created>
  <dcterms:modified xsi:type="dcterms:W3CDTF">2026-10-02T22:38:43Z</dcterms:modified>
</cp:coreProperties>
</file>